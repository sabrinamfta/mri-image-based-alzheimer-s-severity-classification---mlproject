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QND Pro Condensed" charset="1" panose="00000500000000000000"/>
      <p:regular r:id="rId16"/>
    </p:embeddedFont>
    <p:embeddedFont>
      <p:font typeface="Fira Code Bold" charset="1" panose="020B0809050000020004"/>
      <p:regular r:id="rId17"/>
    </p:embeddedFont>
    <p:embeddedFont>
      <p:font typeface="Fira Code" charset="1" panose="020B0809050000020004"/>
      <p:regular r:id="rId18"/>
    </p:embeddedFont>
    <p:embeddedFont>
      <p:font typeface="Mina" charset="1" panose="02000503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 Id="rId5" Target="../media/image8.pn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8.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10.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2" Target="../media/image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4.png" Type="http://schemas.openxmlformats.org/officeDocument/2006/relationships/image"/><Relationship Id="rId5" Target="../media/image26.png" Type="http://schemas.openxmlformats.org/officeDocument/2006/relationships/image"/><Relationship Id="rId6" Target="../media/image8.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8.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1028700" y="4805361"/>
            <a:ext cx="1543050" cy="6302888"/>
            <a:chOff x="0" y="0"/>
            <a:chExt cx="406400" cy="1660020"/>
          </a:xfrm>
        </p:grpSpPr>
        <p:sp>
          <p:nvSpPr>
            <p:cNvPr name="Freeform 3" id="3"/>
            <p:cNvSpPr/>
            <p:nvPr/>
          </p:nvSpPr>
          <p:spPr>
            <a:xfrm flipH="false" flipV="false" rot="0">
              <a:off x="0" y="0"/>
              <a:ext cx="406400" cy="1660020"/>
            </a:xfrm>
            <a:custGeom>
              <a:avLst/>
              <a:gdLst/>
              <a:ahLst/>
              <a:cxnLst/>
              <a:rect r="r" b="b" t="t" l="l"/>
              <a:pathLst>
                <a:path h="1660020" w="406400">
                  <a:moveTo>
                    <a:pt x="0" y="0"/>
                  </a:moveTo>
                  <a:lnTo>
                    <a:pt x="406400" y="0"/>
                  </a:lnTo>
                  <a:lnTo>
                    <a:pt x="406400" y="1660020"/>
                  </a:lnTo>
                  <a:lnTo>
                    <a:pt x="0" y="1660020"/>
                  </a:lnTo>
                  <a:close/>
                </a:path>
              </a:pathLst>
            </a:custGeom>
            <a:solidFill>
              <a:srgbClr val="2B2B2B"/>
            </a:solidFill>
          </p:spPr>
        </p:sp>
        <p:sp>
          <p:nvSpPr>
            <p:cNvPr name="TextBox 4" id="4"/>
            <p:cNvSpPr txBox="true"/>
            <p:nvPr/>
          </p:nvSpPr>
          <p:spPr>
            <a:xfrm>
              <a:off x="0" y="28575"/>
              <a:ext cx="406400" cy="1631445"/>
            </a:xfrm>
            <a:prstGeom prst="rect">
              <a:avLst/>
            </a:prstGeom>
          </p:spPr>
          <p:txBody>
            <a:bodyPr anchor="ctr" rtlCol="false" tIns="50800" lIns="50800" bIns="50800" rIns="50800"/>
            <a:lstStyle/>
            <a:p>
              <a:pPr algn="ctr">
                <a:lnSpc>
                  <a:spcPts val="1800"/>
                </a:lnSpc>
              </a:pPr>
            </a:p>
          </p:txBody>
        </p:sp>
      </p:grpSp>
      <p:sp>
        <p:nvSpPr>
          <p:cNvPr name="AutoShape 5" id="5"/>
          <p:cNvSpPr/>
          <p:nvPr/>
        </p:nvSpPr>
        <p:spPr>
          <a:xfrm>
            <a:off x="995612" y="5614353"/>
            <a:ext cx="16230600" cy="0"/>
          </a:xfrm>
          <a:prstGeom prst="line">
            <a:avLst/>
          </a:prstGeom>
          <a:ln cap="flat" w="9525">
            <a:solidFill>
              <a:srgbClr val="2B2B2B"/>
            </a:solidFill>
            <a:prstDash val="solid"/>
            <a:headEnd type="none" len="sm" w="sm"/>
            <a:tailEnd type="none" len="sm" w="sm"/>
          </a:ln>
        </p:spPr>
      </p:sp>
      <p:sp>
        <p:nvSpPr>
          <p:cNvPr name="AutoShape 6" id="6"/>
          <p:cNvSpPr/>
          <p:nvPr/>
        </p:nvSpPr>
        <p:spPr>
          <a:xfrm>
            <a:off x="1028700" y="1793556"/>
            <a:ext cx="16230600" cy="0"/>
          </a:xfrm>
          <a:prstGeom prst="line">
            <a:avLst/>
          </a:prstGeom>
          <a:ln cap="flat" w="9525">
            <a:solidFill>
              <a:srgbClr val="2B2B2B"/>
            </a:solidFill>
            <a:prstDash val="solid"/>
            <a:headEnd type="none" len="sm" w="sm"/>
            <a:tailEnd type="none" len="sm" w="sm"/>
          </a:ln>
        </p:spPr>
      </p:sp>
      <p:sp>
        <p:nvSpPr>
          <p:cNvPr name="Freeform 7" id="7"/>
          <p:cNvSpPr/>
          <p:nvPr/>
        </p:nvSpPr>
        <p:spPr>
          <a:xfrm flipH="false" flipV="false" rot="0">
            <a:off x="1028700" y="3689840"/>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906509" y="3689840"/>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401570">
            <a:off x="1498284" y="4073178"/>
            <a:ext cx="2333127" cy="2140644"/>
          </a:xfrm>
          <a:custGeom>
            <a:avLst/>
            <a:gdLst/>
            <a:ahLst/>
            <a:cxnLst/>
            <a:rect r="r" b="b" t="t" l="l"/>
            <a:pathLst>
              <a:path h="2140644" w="2333127">
                <a:moveTo>
                  <a:pt x="0" y="0"/>
                </a:moveTo>
                <a:lnTo>
                  <a:pt x="2333127" y="0"/>
                </a:lnTo>
                <a:lnTo>
                  <a:pt x="2333127" y="2140644"/>
                </a:lnTo>
                <a:lnTo>
                  <a:pt x="0" y="2140644"/>
                </a:lnTo>
                <a:lnTo>
                  <a:pt x="0" y="0"/>
                </a:lnTo>
                <a:close/>
              </a:path>
            </a:pathLst>
          </a:custGeom>
          <a:blipFill>
            <a:blip r:embed="rId4"/>
            <a:stretch>
              <a:fillRect l="0" t="0" r="0" b="0"/>
            </a:stretch>
          </a:blipFill>
        </p:spPr>
      </p:sp>
      <p:grpSp>
        <p:nvGrpSpPr>
          <p:cNvPr name="Group 10" id="10"/>
          <p:cNvGrpSpPr/>
          <p:nvPr/>
        </p:nvGrpSpPr>
        <p:grpSpPr>
          <a:xfrm rot="0">
            <a:off x="2789854" y="6559277"/>
            <a:ext cx="7322136" cy="1693239"/>
            <a:chOff x="0" y="0"/>
            <a:chExt cx="1928464" cy="445956"/>
          </a:xfrm>
        </p:grpSpPr>
        <p:sp>
          <p:nvSpPr>
            <p:cNvPr name="Freeform 11" id="11"/>
            <p:cNvSpPr/>
            <p:nvPr/>
          </p:nvSpPr>
          <p:spPr>
            <a:xfrm flipH="false" flipV="false" rot="0">
              <a:off x="0" y="0"/>
              <a:ext cx="1928464" cy="445956"/>
            </a:xfrm>
            <a:custGeom>
              <a:avLst/>
              <a:gdLst/>
              <a:ahLst/>
              <a:cxnLst/>
              <a:rect r="r" b="b" t="t" l="l"/>
              <a:pathLst>
                <a:path h="445956" w="1928464">
                  <a:moveTo>
                    <a:pt x="0" y="0"/>
                  </a:moveTo>
                  <a:lnTo>
                    <a:pt x="1928464" y="0"/>
                  </a:lnTo>
                  <a:lnTo>
                    <a:pt x="1928464" y="445956"/>
                  </a:lnTo>
                  <a:lnTo>
                    <a:pt x="0" y="445956"/>
                  </a:lnTo>
                  <a:close/>
                </a:path>
              </a:pathLst>
            </a:custGeom>
            <a:solidFill>
              <a:srgbClr val="E8E8E8"/>
            </a:solidFill>
            <a:ln w="9525" cap="sq">
              <a:solidFill>
                <a:srgbClr val="000000"/>
              </a:solidFill>
              <a:prstDash val="solid"/>
              <a:miter/>
            </a:ln>
          </p:spPr>
        </p:sp>
        <p:sp>
          <p:nvSpPr>
            <p:cNvPr name="TextBox 12" id="12"/>
            <p:cNvSpPr txBox="true"/>
            <p:nvPr/>
          </p:nvSpPr>
          <p:spPr>
            <a:xfrm>
              <a:off x="0" y="28575"/>
              <a:ext cx="1928464" cy="417381"/>
            </a:xfrm>
            <a:prstGeom prst="rect">
              <a:avLst/>
            </a:prstGeom>
          </p:spPr>
          <p:txBody>
            <a:bodyPr anchor="ctr" rtlCol="false" tIns="50800" lIns="50800" bIns="50800" rIns="50800"/>
            <a:lstStyle/>
            <a:p>
              <a:pPr algn="ctr">
                <a:lnSpc>
                  <a:spcPts val="1800"/>
                </a:lnSpc>
              </a:pPr>
            </a:p>
          </p:txBody>
        </p:sp>
      </p:grpSp>
      <p:grpSp>
        <p:nvGrpSpPr>
          <p:cNvPr name="Group 13" id="13"/>
          <p:cNvGrpSpPr/>
          <p:nvPr/>
        </p:nvGrpSpPr>
        <p:grpSpPr>
          <a:xfrm rot="0">
            <a:off x="15716250" y="4805361"/>
            <a:ext cx="1543050" cy="6302888"/>
            <a:chOff x="0" y="0"/>
            <a:chExt cx="406400" cy="1660020"/>
          </a:xfrm>
        </p:grpSpPr>
        <p:sp>
          <p:nvSpPr>
            <p:cNvPr name="Freeform 14" id="14"/>
            <p:cNvSpPr/>
            <p:nvPr/>
          </p:nvSpPr>
          <p:spPr>
            <a:xfrm flipH="false" flipV="false" rot="0">
              <a:off x="0" y="0"/>
              <a:ext cx="406400" cy="1660020"/>
            </a:xfrm>
            <a:custGeom>
              <a:avLst/>
              <a:gdLst/>
              <a:ahLst/>
              <a:cxnLst/>
              <a:rect r="r" b="b" t="t" l="l"/>
              <a:pathLst>
                <a:path h="1660020" w="406400">
                  <a:moveTo>
                    <a:pt x="0" y="0"/>
                  </a:moveTo>
                  <a:lnTo>
                    <a:pt x="406400" y="0"/>
                  </a:lnTo>
                  <a:lnTo>
                    <a:pt x="406400" y="1660020"/>
                  </a:lnTo>
                  <a:lnTo>
                    <a:pt x="0" y="1660020"/>
                  </a:lnTo>
                  <a:close/>
                </a:path>
              </a:pathLst>
            </a:custGeom>
            <a:solidFill>
              <a:srgbClr val="2B2B2B"/>
            </a:solidFill>
          </p:spPr>
        </p:sp>
        <p:sp>
          <p:nvSpPr>
            <p:cNvPr name="TextBox 15" id="15"/>
            <p:cNvSpPr txBox="true"/>
            <p:nvPr/>
          </p:nvSpPr>
          <p:spPr>
            <a:xfrm>
              <a:off x="0" y="28575"/>
              <a:ext cx="406400" cy="1631445"/>
            </a:xfrm>
            <a:prstGeom prst="rect">
              <a:avLst/>
            </a:prstGeom>
          </p:spPr>
          <p:txBody>
            <a:bodyPr anchor="ctr" rtlCol="false" tIns="50800" lIns="50800" bIns="50800" rIns="50800"/>
            <a:lstStyle/>
            <a:p>
              <a:pPr algn="ctr">
                <a:lnSpc>
                  <a:spcPts val="1800"/>
                </a:lnSpc>
              </a:pPr>
            </a:p>
          </p:txBody>
        </p:sp>
      </p:grpSp>
      <p:sp>
        <p:nvSpPr>
          <p:cNvPr name="Freeform 16" id="16"/>
          <p:cNvSpPr/>
          <p:nvPr/>
        </p:nvSpPr>
        <p:spPr>
          <a:xfrm flipH="true" flipV="false" rot="1122201">
            <a:off x="226987" y="-219097"/>
            <a:ext cx="3146477" cy="2886893"/>
          </a:xfrm>
          <a:custGeom>
            <a:avLst/>
            <a:gdLst/>
            <a:ahLst/>
            <a:cxnLst/>
            <a:rect r="r" b="b" t="t" l="l"/>
            <a:pathLst>
              <a:path h="2886893" w="3146477">
                <a:moveTo>
                  <a:pt x="3146476" y="0"/>
                </a:moveTo>
                <a:lnTo>
                  <a:pt x="0" y="0"/>
                </a:lnTo>
                <a:lnTo>
                  <a:pt x="0" y="2886893"/>
                </a:lnTo>
                <a:lnTo>
                  <a:pt x="3146476" y="2886893"/>
                </a:lnTo>
                <a:lnTo>
                  <a:pt x="3146476" y="0"/>
                </a:lnTo>
                <a:close/>
              </a:path>
            </a:pathLst>
          </a:custGeom>
          <a:blipFill>
            <a:blip r:embed="rId4"/>
            <a:stretch>
              <a:fillRect l="0" t="0" r="0" b="0"/>
            </a:stretch>
          </a:blipFill>
        </p:spPr>
      </p:sp>
      <p:sp>
        <p:nvSpPr>
          <p:cNvPr name="Freeform 17" id="17"/>
          <p:cNvSpPr/>
          <p:nvPr/>
        </p:nvSpPr>
        <p:spPr>
          <a:xfrm flipH="false" flipV="false" rot="-806134">
            <a:off x="12538171" y="5492255"/>
            <a:ext cx="3404474" cy="3417289"/>
          </a:xfrm>
          <a:custGeom>
            <a:avLst/>
            <a:gdLst/>
            <a:ahLst/>
            <a:cxnLst/>
            <a:rect r="r" b="b" t="t" l="l"/>
            <a:pathLst>
              <a:path h="3417289" w="3404474">
                <a:moveTo>
                  <a:pt x="0" y="0"/>
                </a:moveTo>
                <a:lnTo>
                  <a:pt x="3404474" y="0"/>
                </a:lnTo>
                <a:lnTo>
                  <a:pt x="3404474" y="3417290"/>
                </a:lnTo>
                <a:lnTo>
                  <a:pt x="0" y="3417290"/>
                </a:lnTo>
                <a:lnTo>
                  <a:pt x="0" y="0"/>
                </a:lnTo>
                <a:close/>
              </a:path>
            </a:pathLst>
          </a:custGeom>
          <a:blipFill>
            <a:blip r:embed="rId5"/>
            <a:stretch>
              <a:fillRect l="0" t="0" r="0" b="0"/>
            </a:stretch>
          </a:blipFill>
        </p:spPr>
      </p:sp>
      <p:sp>
        <p:nvSpPr>
          <p:cNvPr name="Freeform 18" id="18"/>
          <p:cNvSpPr/>
          <p:nvPr/>
        </p:nvSpPr>
        <p:spPr>
          <a:xfrm flipH="false" flipV="true" rot="0">
            <a:off x="1028700" y="1028700"/>
            <a:ext cx="252007" cy="195649"/>
          </a:xfrm>
          <a:custGeom>
            <a:avLst/>
            <a:gdLst/>
            <a:ahLst/>
            <a:cxnLst/>
            <a:rect r="r" b="b" t="t" l="l"/>
            <a:pathLst>
              <a:path h="195649" w="252007">
                <a:moveTo>
                  <a:pt x="0" y="195649"/>
                </a:moveTo>
                <a:lnTo>
                  <a:pt x="252007" y="195649"/>
                </a:lnTo>
                <a:lnTo>
                  <a:pt x="252007" y="0"/>
                </a:lnTo>
                <a:lnTo>
                  <a:pt x="0" y="0"/>
                </a:lnTo>
                <a:lnTo>
                  <a:pt x="0" y="19564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true" flipV="true" rot="0">
            <a:off x="17007293" y="1028700"/>
            <a:ext cx="252007" cy="195649"/>
          </a:xfrm>
          <a:custGeom>
            <a:avLst/>
            <a:gdLst/>
            <a:ahLst/>
            <a:cxnLst/>
            <a:rect r="r" b="b" t="t" l="l"/>
            <a:pathLst>
              <a:path h="195649" w="252007">
                <a:moveTo>
                  <a:pt x="252007" y="195649"/>
                </a:moveTo>
                <a:lnTo>
                  <a:pt x="0" y="195649"/>
                </a:lnTo>
                <a:lnTo>
                  <a:pt x="0" y="0"/>
                </a:lnTo>
                <a:lnTo>
                  <a:pt x="252007" y="0"/>
                </a:lnTo>
                <a:lnTo>
                  <a:pt x="252007" y="19564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2073279" y="2141218"/>
            <a:ext cx="14141441" cy="2668905"/>
          </a:xfrm>
          <a:prstGeom prst="rect">
            <a:avLst/>
          </a:prstGeom>
        </p:spPr>
        <p:txBody>
          <a:bodyPr anchor="t" rtlCol="false" tIns="0" lIns="0" bIns="0" rIns="0">
            <a:spAutoFit/>
          </a:bodyPr>
          <a:lstStyle/>
          <a:p>
            <a:pPr algn="ctr">
              <a:lnSpc>
                <a:spcPts val="5160"/>
              </a:lnSpc>
            </a:pPr>
            <a:r>
              <a:rPr lang="en-US" sz="6000" spc="-120">
                <a:solidFill>
                  <a:srgbClr val="2B2B2B"/>
                </a:solidFill>
                <a:latin typeface="RQND Pro Condensed"/>
                <a:ea typeface="RQND Pro Condensed"/>
                <a:cs typeface="RQND Pro Condensed"/>
                <a:sym typeface="RQND Pro Condensed"/>
              </a:rPr>
              <a:t>KLASIFIKASI TINGKAT KEPARAHAN ALZHEIMER BERBASIS CITRA MRI MENGGUNAKAN PENGOLAHAN CITRA MORFOLOGI DAN HYBRID CNN-SVM</a:t>
            </a:r>
          </a:p>
          <a:p>
            <a:pPr algn="ctr">
              <a:lnSpc>
                <a:spcPts val="5160"/>
              </a:lnSpc>
            </a:pPr>
          </a:p>
        </p:txBody>
      </p:sp>
      <p:sp>
        <p:nvSpPr>
          <p:cNvPr name="TextBox 21" id="21"/>
          <p:cNvSpPr txBox="true"/>
          <p:nvPr/>
        </p:nvSpPr>
        <p:spPr>
          <a:xfrm rot="0">
            <a:off x="8176010" y="1138680"/>
            <a:ext cx="1935981" cy="183388"/>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KELOMPOK 6</a:t>
            </a:r>
          </a:p>
        </p:txBody>
      </p:sp>
      <p:sp>
        <p:nvSpPr>
          <p:cNvPr name="TextBox 22" id="22"/>
          <p:cNvSpPr txBox="true"/>
          <p:nvPr/>
        </p:nvSpPr>
        <p:spPr>
          <a:xfrm rot="0">
            <a:off x="3010250" y="6866362"/>
            <a:ext cx="7101740" cy="1076960"/>
          </a:xfrm>
          <a:prstGeom prst="rect">
            <a:avLst/>
          </a:prstGeom>
        </p:spPr>
        <p:txBody>
          <a:bodyPr anchor="t" rtlCol="false" tIns="0" lIns="0" bIns="0" rIns="0">
            <a:spAutoFit/>
          </a:bodyPr>
          <a:lstStyle/>
          <a:p>
            <a:pPr algn="l" marL="431801" indent="-215900" lvl="1">
              <a:lnSpc>
                <a:spcPts val="1720"/>
              </a:lnSpc>
              <a:buAutoNum type="arabicPeriod" startAt="1"/>
            </a:pPr>
            <a:r>
              <a:rPr lang="en-US" sz="2000" spc="-60">
                <a:solidFill>
                  <a:srgbClr val="2B2B2B"/>
                </a:solidFill>
                <a:latin typeface="Fira Code"/>
                <a:ea typeface="Fira Code"/>
                <a:cs typeface="Fira Code"/>
                <a:sym typeface="Fira Code"/>
              </a:rPr>
              <a:t>ULFIA NURMALIZHA RAMADHANI (24031554064)</a:t>
            </a:r>
          </a:p>
          <a:p>
            <a:pPr algn="l">
              <a:lnSpc>
                <a:spcPts val="1720"/>
              </a:lnSpc>
            </a:pPr>
          </a:p>
          <a:p>
            <a:pPr algn="l" marL="431801" indent="-215900" lvl="1">
              <a:lnSpc>
                <a:spcPts val="1720"/>
              </a:lnSpc>
              <a:buAutoNum type="arabicPeriod" startAt="1"/>
            </a:pPr>
            <a:r>
              <a:rPr lang="en-US" sz="2000" spc="-60">
                <a:solidFill>
                  <a:srgbClr val="2B2B2B"/>
                </a:solidFill>
                <a:latin typeface="Fira Code"/>
                <a:ea typeface="Fira Code"/>
                <a:cs typeface="Fira Code"/>
                <a:sym typeface="Fira Code"/>
              </a:rPr>
              <a:t>LUTHFIANA SYAKIRA EKA RAMADANI (24031554071)</a:t>
            </a:r>
          </a:p>
          <a:p>
            <a:pPr algn="l">
              <a:lnSpc>
                <a:spcPts val="1720"/>
              </a:lnSpc>
            </a:pPr>
          </a:p>
          <a:p>
            <a:pPr algn="l" marL="431801" indent="-215900" lvl="1">
              <a:lnSpc>
                <a:spcPts val="1720"/>
              </a:lnSpc>
              <a:buAutoNum type="arabicPeriod" startAt="1"/>
            </a:pPr>
            <a:r>
              <a:rPr lang="en-US" sz="2000" spc="-60">
                <a:solidFill>
                  <a:srgbClr val="2B2B2B"/>
                </a:solidFill>
                <a:latin typeface="Fira Code"/>
                <a:ea typeface="Fira Code"/>
                <a:cs typeface="Fira Code"/>
                <a:sym typeface="Fira Code"/>
              </a:rPr>
              <a:t>SABRINA MIFTAKHUL JANA (24031554148)</a:t>
            </a:r>
          </a:p>
        </p:txBody>
      </p:sp>
      <p:sp>
        <p:nvSpPr>
          <p:cNvPr name="TextBox 23" id="23"/>
          <p:cNvSpPr txBox="true"/>
          <p:nvPr/>
        </p:nvSpPr>
        <p:spPr>
          <a:xfrm rot="0">
            <a:off x="1800225" y="4725670"/>
            <a:ext cx="14141441" cy="417830"/>
          </a:xfrm>
          <a:prstGeom prst="rect">
            <a:avLst/>
          </a:prstGeom>
        </p:spPr>
        <p:txBody>
          <a:bodyPr anchor="t" rtlCol="false" tIns="0" lIns="0" bIns="0" rIns="0">
            <a:spAutoFit/>
          </a:bodyPr>
          <a:lstStyle/>
          <a:p>
            <a:pPr algn="ctr">
              <a:lnSpc>
                <a:spcPts val="3010"/>
              </a:lnSpc>
            </a:pPr>
            <a:r>
              <a:rPr lang="en-US" sz="3500" spc="-70">
                <a:solidFill>
                  <a:srgbClr val="7D6040"/>
                </a:solidFill>
                <a:latin typeface="RQND Pro Condensed"/>
                <a:ea typeface="RQND Pro Condensed"/>
                <a:cs typeface="RQND Pro Condensed"/>
                <a:sym typeface="RQND Pro Condensed"/>
              </a:rPr>
              <a:t>MORFOLOGI PREPROCESSING - LBP+SVM - RESNET50 -HYBRID CNN+GABOR+SVM</a:t>
            </a:r>
          </a:p>
        </p:txBody>
      </p:sp>
      <p:sp>
        <p:nvSpPr>
          <p:cNvPr name="TextBox 24" id="24"/>
          <p:cNvSpPr txBox="true"/>
          <p:nvPr/>
        </p:nvSpPr>
        <p:spPr>
          <a:xfrm rot="0">
            <a:off x="11820283" y="9486900"/>
            <a:ext cx="3895967" cy="574675"/>
          </a:xfrm>
          <a:prstGeom prst="rect">
            <a:avLst/>
          </a:prstGeom>
        </p:spPr>
        <p:txBody>
          <a:bodyPr anchor="t" rtlCol="false" tIns="0" lIns="0" bIns="0" rIns="0">
            <a:spAutoFit/>
          </a:bodyPr>
          <a:lstStyle/>
          <a:p>
            <a:pPr algn="just">
              <a:lnSpc>
                <a:spcPts val="2149"/>
              </a:lnSpc>
            </a:pPr>
            <a:r>
              <a:rPr lang="en-US" sz="2499" spc="-49">
                <a:solidFill>
                  <a:srgbClr val="7D6040"/>
                </a:solidFill>
                <a:latin typeface="RQND Pro Condensed"/>
                <a:ea typeface="RQND Pro Condensed"/>
                <a:cs typeface="RQND Pro Condensed"/>
                <a:sym typeface="RQND Pro Condensed"/>
              </a:rPr>
              <a:t>PEMBELAJARAN MESIN - SEMESTER 4 </a:t>
            </a:r>
          </a:p>
          <a:p>
            <a:pPr algn="just">
              <a:lnSpc>
                <a:spcPts val="2149"/>
              </a:lnSpc>
            </a:pPr>
            <a:r>
              <a:rPr lang="en-US" sz="2499" spc="-49">
                <a:solidFill>
                  <a:srgbClr val="7D6040"/>
                </a:solidFill>
                <a:latin typeface="RQND Pro Condensed"/>
                <a:ea typeface="RQND Pro Condensed"/>
                <a:cs typeface="RQND Pro Condensed"/>
                <a:sym typeface="RQND Pro Condensed"/>
              </a:rPr>
              <a:t>2026</a:t>
            </a:r>
          </a:p>
        </p:txBody>
      </p:sp>
      <p:sp>
        <p:nvSpPr>
          <p:cNvPr name="TextBox 25" id="25"/>
          <p:cNvSpPr txBox="true"/>
          <p:nvPr/>
        </p:nvSpPr>
        <p:spPr>
          <a:xfrm rot="0">
            <a:off x="2789854" y="9594215"/>
            <a:ext cx="7101740" cy="340995"/>
          </a:xfrm>
          <a:prstGeom prst="rect">
            <a:avLst/>
          </a:prstGeom>
        </p:spPr>
        <p:txBody>
          <a:bodyPr anchor="t" rtlCol="false" tIns="0" lIns="0" bIns="0" rIns="0">
            <a:spAutoFit/>
          </a:bodyPr>
          <a:lstStyle/>
          <a:p>
            <a:pPr algn="l">
              <a:lnSpc>
                <a:spcPts val="1290"/>
              </a:lnSpc>
            </a:pPr>
            <a:r>
              <a:rPr lang="en-US" sz="1500" spc="-44">
                <a:solidFill>
                  <a:srgbClr val="2B2B2B"/>
                </a:solidFill>
                <a:latin typeface="Fira Code"/>
                <a:ea typeface="Fira Code"/>
                <a:cs typeface="Fira Code"/>
                <a:sym typeface="Fira Code"/>
              </a:rPr>
              <a:t>DOSEN PENGAMPU : </a:t>
            </a:r>
          </a:p>
          <a:p>
            <a:pPr algn="l">
              <a:lnSpc>
                <a:spcPts val="1290"/>
              </a:lnSpc>
            </a:pPr>
            <a:r>
              <a:rPr lang="en-US" sz="1500" spc="-44">
                <a:solidFill>
                  <a:srgbClr val="2B2B2B"/>
                </a:solidFill>
                <a:latin typeface="Fira Code"/>
                <a:ea typeface="Fira Code"/>
                <a:cs typeface="Fira Code"/>
                <a:sym typeface="Fira Code"/>
              </a:rPr>
              <a:t>RISKYANA DEWI INTAN PUSPITASARI, M.KOM.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1028700" y="2621041"/>
            <a:ext cx="9094646" cy="7275763"/>
            <a:chOff x="0" y="0"/>
            <a:chExt cx="2395298" cy="1916250"/>
          </a:xfrm>
        </p:grpSpPr>
        <p:sp>
          <p:nvSpPr>
            <p:cNvPr name="Freeform 3" id="3"/>
            <p:cNvSpPr/>
            <p:nvPr/>
          </p:nvSpPr>
          <p:spPr>
            <a:xfrm flipH="false" flipV="false" rot="0">
              <a:off x="0" y="0"/>
              <a:ext cx="2395298" cy="1916250"/>
            </a:xfrm>
            <a:custGeom>
              <a:avLst/>
              <a:gdLst/>
              <a:ahLst/>
              <a:cxnLst/>
              <a:rect r="r" b="b" t="t" l="l"/>
              <a:pathLst>
                <a:path h="1916250" w="2395298">
                  <a:moveTo>
                    <a:pt x="0" y="0"/>
                  </a:moveTo>
                  <a:lnTo>
                    <a:pt x="2395298" y="0"/>
                  </a:lnTo>
                  <a:lnTo>
                    <a:pt x="2395298" y="1916250"/>
                  </a:lnTo>
                  <a:lnTo>
                    <a:pt x="0" y="1916250"/>
                  </a:lnTo>
                  <a:close/>
                </a:path>
              </a:pathLst>
            </a:custGeom>
            <a:solidFill>
              <a:srgbClr val="E8E8E8"/>
            </a:solidFill>
            <a:ln w="9525" cap="sq">
              <a:solidFill>
                <a:srgbClr val="000000"/>
              </a:solidFill>
              <a:prstDash val="solid"/>
              <a:miter/>
            </a:ln>
          </p:spPr>
        </p:sp>
        <p:sp>
          <p:nvSpPr>
            <p:cNvPr name="TextBox 4" id="4"/>
            <p:cNvSpPr txBox="true"/>
            <p:nvPr/>
          </p:nvSpPr>
          <p:spPr>
            <a:xfrm>
              <a:off x="0" y="28575"/>
              <a:ext cx="2395298" cy="1887675"/>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14132882" y="0"/>
            <a:ext cx="4155118" cy="10287000"/>
            <a:chOff x="0" y="0"/>
            <a:chExt cx="1094352" cy="2709333"/>
          </a:xfrm>
        </p:grpSpPr>
        <p:sp>
          <p:nvSpPr>
            <p:cNvPr name="Freeform 6" id="6"/>
            <p:cNvSpPr/>
            <p:nvPr/>
          </p:nvSpPr>
          <p:spPr>
            <a:xfrm flipH="false" flipV="false" rot="0">
              <a:off x="0" y="0"/>
              <a:ext cx="1094352" cy="2709333"/>
            </a:xfrm>
            <a:custGeom>
              <a:avLst/>
              <a:gdLst/>
              <a:ahLst/>
              <a:cxnLst/>
              <a:rect r="r" b="b" t="t" l="l"/>
              <a:pathLst>
                <a:path h="2709333" w="1094352">
                  <a:moveTo>
                    <a:pt x="0" y="0"/>
                  </a:moveTo>
                  <a:lnTo>
                    <a:pt x="1094352" y="0"/>
                  </a:lnTo>
                  <a:lnTo>
                    <a:pt x="1094352" y="2709333"/>
                  </a:lnTo>
                  <a:lnTo>
                    <a:pt x="0" y="2709333"/>
                  </a:lnTo>
                  <a:close/>
                </a:path>
              </a:pathLst>
            </a:custGeom>
            <a:solidFill>
              <a:srgbClr val="2B2B2B"/>
            </a:solidFill>
          </p:spPr>
        </p:sp>
        <p:sp>
          <p:nvSpPr>
            <p:cNvPr name="TextBox 7" id="7"/>
            <p:cNvSpPr txBox="true"/>
            <p:nvPr/>
          </p:nvSpPr>
          <p:spPr>
            <a:xfrm>
              <a:off x="0" y="28575"/>
              <a:ext cx="1094352" cy="2680758"/>
            </a:xfrm>
            <a:prstGeom prst="rect">
              <a:avLst/>
            </a:prstGeom>
          </p:spPr>
          <p:txBody>
            <a:bodyPr anchor="ctr" rtlCol="false" tIns="50800" lIns="50800" bIns="50800" rIns="50800"/>
            <a:lstStyle/>
            <a:p>
              <a:pPr algn="ctr">
                <a:lnSpc>
                  <a:spcPts val="1800"/>
                </a:lnSpc>
              </a:pPr>
            </a:p>
          </p:txBody>
        </p:sp>
      </p:grpSp>
      <p:grpSp>
        <p:nvGrpSpPr>
          <p:cNvPr name="Group 8" id="8"/>
          <p:cNvGrpSpPr/>
          <p:nvPr/>
        </p:nvGrpSpPr>
        <p:grpSpPr>
          <a:xfrm rot="0">
            <a:off x="11240983" y="1028700"/>
            <a:ext cx="6018317" cy="8229600"/>
            <a:chOff x="0" y="0"/>
            <a:chExt cx="932395" cy="1274980"/>
          </a:xfrm>
        </p:grpSpPr>
        <p:sp>
          <p:nvSpPr>
            <p:cNvPr name="Freeform 9" id="9"/>
            <p:cNvSpPr/>
            <p:nvPr/>
          </p:nvSpPr>
          <p:spPr>
            <a:xfrm flipH="true" flipV="false" rot="0">
              <a:off x="0" y="0"/>
              <a:ext cx="932395" cy="1274980"/>
            </a:xfrm>
            <a:custGeom>
              <a:avLst/>
              <a:gdLst/>
              <a:ahLst/>
              <a:cxnLst/>
              <a:rect r="r" b="b" t="t" l="l"/>
              <a:pathLst>
                <a:path h="1274980" w="932395">
                  <a:moveTo>
                    <a:pt x="932395" y="0"/>
                  </a:moveTo>
                  <a:lnTo>
                    <a:pt x="0" y="0"/>
                  </a:lnTo>
                  <a:lnTo>
                    <a:pt x="0" y="1274980"/>
                  </a:lnTo>
                  <a:lnTo>
                    <a:pt x="932395" y="1274980"/>
                  </a:lnTo>
                  <a:close/>
                </a:path>
              </a:pathLst>
            </a:custGeom>
            <a:blipFill>
              <a:blip r:embed="rId2"/>
              <a:stretch>
                <a:fillRect l="-52621" t="0" r="-52621" b="0"/>
              </a:stretch>
            </a:blipFill>
          </p:spPr>
        </p:sp>
      </p:grpSp>
      <p:sp>
        <p:nvSpPr>
          <p:cNvPr name="Freeform 10" id="10"/>
          <p:cNvSpPr/>
          <p:nvPr/>
        </p:nvSpPr>
        <p:spPr>
          <a:xfrm flipH="false" flipV="false" rot="0">
            <a:off x="14413517" y="6112666"/>
            <a:ext cx="5691567" cy="6263072"/>
          </a:xfrm>
          <a:custGeom>
            <a:avLst/>
            <a:gdLst/>
            <a:ahLst/>
            <a:cxnLst/>
            <a:rect r="r" b="b" t="t" l="l"/>
            <a:pathLst>
              <a:path h="6263072" w="5691567">
                <a:moveTo>
                  <a:pt x="0" y="0"/>
                </a:moveTo>
                <a:lnTo>
                  <a:pt x="5691566" y="0"/>
                </a:lnTo>
                <a:lnTo>
                  <a:pt x="5691566" y="6263072"/>
                </a:lnTo>
                <a:lnTo>
                  <a:pt x="0" y="6263072"/>
                </a:lnTo>
                <a:lnTo>
                  <a:pt x="0" y="0"/>
                </a:lnTo>
                <a:close/>
              </a:path>
            </a:pathLst>
          </a:custGeom>
          <a:blipFill>
            <a:blip r:embed="rId3"/>
            <a:stretch>
              <a:fillRect l="0" t="0" r="0" b="0"/>
            </a:stretch>
          </a:blipFill>
        </p:spPr>
      </p:sp>
      <p:sp>
        <p:nvSpPr>
          <p:cNvPr name="TextBox 11" id="11"/>
          <p:cNvSpPr txBox="true"/>
          <p:nvPr/>
        </p:nvSpPr>
        <p:spPr>
          <a:xfrm rot="0">
            <a:off x="4039913" y="1116089"/>
            <a:ext cx="6335441" cy="781052"/>
          </a:xfrm>
          <a:prstGeom prst="rect">
            <a:avLst/>
          </a:prstGeom>
        </p:spPr>
        <p:txBody>
          <a:bodyPr anchor="t" rtlCol="false" tIns="0" lIns="0" bIns="0" rIns="0">
            <a:spAutoFit/>
          </a:bodyPr>
          <a:lstStyle/>
          <a:p>
            <a:pPr algn="l">
              <a:lnSpc>
                <a:spcPts val="4800"/>
              </a:lnSpc>
            </a:pPr>
            <a:r>
              <a:rPr lang="en-US" sz="8000" spc="-160">
                <a:solidFill>
                  <a:srgbClr val="2B2B2B"/>
                </a:solidFill>
                <a:latin typeface="RQND Pro Condensed"/>
                <a:ea typeface="RQND Pro Condensed"/>
                <a:cs typeface="RQND Pro Condensed"/>
                <a:sym typeface="RQND Pro Condensed"/>
              </a:rPr>
              <a:t>LATAR BELAKANG</a:t>
            </a:r>
          </a:p>
        </p:txBody>
      </p:sp>
      <p:sp>
        <p:nvSpPr>
          <p:cNvPr name="TextBox 12" id="12"/>
          <p:cNvSpPr txBox="true"/>
          <p:nvPr/>
        </p:nvSpPr>
        <p:spPr>
          <a:xfrm rot="0">
            <a:off x="830319" y="1085850"/>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13" id="13"/>
          <p:cNvSpPr txBox="true"/>
          <p:nvPr/>
        </p:nvSpPr>
        <p:spPr>
          <a:xfrm rot="0">
            <a:off x="1844249" y="6832971"/>
            <a:ext cx="3229704" cy="36195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TUJUAN</a:t>
            </a:r>
          </a:p>
        </p:txBody>
      </p:sp>
      <p:sp>
        <p:nvSpPr>
          <p:cNvPr name="Freeform 14" id="14"/>
          <p:cNvSpPr/>
          <p:nvPr/>
        </p:nvSpPr>
        <p:spPr>
          <a:xfrm flipH="false" flipV="true" rot="0">
            <a:off x="830319" y="2425392"/>
            <a:ext cx="252007" cy="195649"/>
          </a:xfrm>
          <a:custGeom>
            <a:avLst/>
            <a:gdLst/>
            <a:ahLst/>
            <a:cxnLst/>
            <a:rect r="r" b="b" t="t" l="l"/>
            <a:pathLst>
              <a:path h="195649" w="252007">
                <a:moveTo>
                  <a:pt x="0" y="195649"/>
                </a:moveTo>
                <a:lnTo>
                  <a:pt x="252007" y="195649"/>
                </a:lnTo>
                <a:lnTo>
                  <a:pt x="252007" y="0"/>
                </a:lnTo>
                <a:lnTo>
                  <a:pt x="0" y="0"/>
                </a:lnTo>
                <a:lnTo>
                  <a:pt x="0" y="19564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830319" y="9896804"/>
            <a:ext cx="252007" cy="195649"/>
          </a:xfrm>
          <a:custGeom>
            <a:avLst/>
            <a:gdLst/>
            <a:ahLst/>
            <a:cxnLst/>
            <a:rect r="r" b="b" t="t" l="l"/>
            <a:pathLst>
              <a:path h="195649" w="252007">
                <a:moveTo>
                  <a:pt x="0" y="0"/>
                </a:moveTo>
                <a:lnTo>
                  <a:pt x="252007" y="0"/>
                </a:lnTo>
                <a:lnTo>
                  <a:pt x="252007" y="195649"/>
                </a:lnTo>
                <a:lnTo>
                  <a:pt x="0" y="1956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9985811" y="9896804"/>
            <a:ext cx="252007" cy="195649"/>
          </a:xfrm>
          <a:custGeom>
            <a:avLst/>
            <a:gdLst/>
            <a:ahLst/>
            <a:cxnLst/>
            <a:rect r="r" b="b" t="t" l="l"/>
            <a:pathLst>
              <a:path h="195649" w="252007">
                <a:moveTo>
                  <a:pt x="252008" y="0"/>
                </a:moveTo>
                <a:lnTo>
                  <a:pt x="0" y="0"/>
                </a:lnTo>
                <a:lnTo>
                  <a:pt x="0" y="195649"/>
                </a:lnTo>
                <a:lnTo>
                  <a:pt x="252008" y="195649"/>
                </a:lnTo>
                <a:lnTo>
                  <a:pt x="25200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7" id="17"/>
          <p:cNvSpPr/>
          <p:nvPr/>
        </p:nvSpPr>
        <p:spPr>
          <a:xfrm>
            <a:off x="1691896" y="6567670"/>
            <a:ext cx="7768255" cy="0"/>
          </a:xfrm>
          <a:prstGeom prst="line">
            <a:avLst/>
          </a:prstGeom>
          <a:ln cap="flat" w="9525">
            <a:solidFill>
              <a:srgbClr val="2B2B2B"/>
            </a:solidFill>
            <a:prstDash val="solid"/>
            <a:headEnd type="none" len="sm" w="sm"/>
            <a:tailEnd type="none" len="sm" w="sm"/>
          </a:ln>
        </p:spPr>
      </p:sp>
      <p:sp>
        <p:nvSpPr>
          <p:cNvPr name="Freeform 18" id="18"/>
          <p:cNvSpPr/>
          <p:nvPr/>
        </p:nvSpPr>
        <p:spPr>
          <a:xfrm flipH="false" flipV="false" rot="-778458">
            <a:off x="9618432" y="4869788"/>
            <a:ext cx="3173619" cy="2911795"/>
          </a:xfrm>
          <a:custGeom>
            <a:avLst/>
            <a:gdLst/>
            <a:ahLst/>
            <a:cxnLst/>
            <a:rect r="r" b="b" t="t" l="l"/>
            <a:pathLst>
              <a:path h="2911795" w="3173619">
                <a:moveTo>
                  <a:pt x="0" y="0"/>
                </a:moveTo>
                <a:lnTo>
                  <a:pt x="3173619" y="0"/>
                </a:lnTo>
                <a:lnTo>
                  <a:pt x="3173619" y="2911795"/>
                </a:lnTo>
                <a:lnTo>
                  <a:pt x="0" y="2911795"/>
                </a:lnTo>
                <a:lnTo>
                  <a:pt x="0" y="0"/>
                </a:lnTo>
                <a:close/>
              </a:path>
            </a:pathLst>
          </a:custGeom>
          <a:blipFill>
            <a:blip r:embed="rId6"/>
            <a:stretch>
              <a:fillRect l="0" t="0" r="0" b="0"/>
            </a:stretch>
          </a:blipFill>
        </p:spPr>
      </p:sp>
      <p:sp>
        <p:nvSpPr>
          <p:cNvPr name="Freeform 19" id="19"/>
          <p:cNvSpPr/>
          <p:nvPr/>
        </p:nvSpPr>
        <p:spPr>
          <a:xfrm flipH="false" flipV="false" rot="0">
            <a:off x="11240983" y="-88198"/>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1566250" y="3070509"/>
            <a:ext cx="8019546" cy="2988945"/>
          </a:xfrm>
          <a:prstGeom prst="rect">
            <a:avLst/>
          </a:prstGeom>
        </p:spPr>
        <p:txBody>
          <a:bodyPr anchor="t" rtlCol="false" tIns="0" lIns="0" bIns="0" rIns="0">
            <a:spAutoFit/>
          </a:bodyPr>
          <a:lstStyle/>
          <a:p>
            <a:pPr algn="l" marL="388620" indent="-194310" lvl="1">
              <a:lnSpc>
                <a:spcPts val="1800"/>
              </a:lnSpc>
              <a:buFont typeface="Arial"/>
              <a:buChar char="•"/>
            </a:pPr>
            <a:r>
              <a:rPr lang="en-US" sz="1800" spc="-53">
                <a:solidFill>
                  <a:srgbClr val="2B2B2B"/>
                </a:solidFill>
                <a:latin typeface="Mina"/>
                <a:ea typeface="Mina"/>
                <a:cs typeface="Mina"/>
                <a:sym typeface="Mina"/>
              </a:rPr>
              <a:t>ALZHEIMER ADALAH PENYAKIT DEGENERATIF OTAK DAN PENYEBAB UTAMA DEMENSIA YANG MENYEBABKAN PENURUNAN MEMORI, BAHASA, KEMAMPUAN BERPIKIR, DAN AKTIVITAS SEHARI-HARI.</a:t>
            </a:r>
          </a:p>
          <a:p>
            <a:pPr algn="l" marL="388620" indent="-194310" lvl="1">
              <a:lnSpc>
                <a:spcPts val="1800"/>
              </a:lnSpc>
              <a:buFont typeface="Arial"/>
              <a:buChar char="•"/>
            </a:pPr>
            <a:r>
              <a:rPr lang="en-US" sz="1800" spc="-53">
                <a:solidFill>
                  <a:srgbClr val="2B2B2B"/>
                </a:solidFill>
                <a:latin typeface="Mina"/>
                <a:ea typeface="Mina"/>
                <a:cs typeface="Mina"/>
                <a:sym typeface="Mina"/>
              </a:rPr>
              <a:t>KERUSAKAN OTAK TERJADI AKIBAT PENUMPUKAN PLAK BETA-AMILOID DAN NEUROFIBRILLARY TANGLES YANG MENYEBABKAN DEGENERASI NEURON.</a:t>
            </a:r>
          </a:p>
          <a:p>
            <a:pPr algn="l" marL="388620" indent="-194310" lvl="1">
              <a:lnSpc>
                <a:spcPts val="1800"/>
              </a:lnSpc>
              <a:buFont typeface="Arial"/>
              <a:buChar char="•"/>
            </a:pPr>
            <a:r>
              <a:rPr lang="en-US" sz="1800" spc="-53">
                <a:solidFill>
                  <a:srgbClr val="2B2B2B"/>
                </a:solidFill>
                <a:latin typeface="Mina"/>
                <a:ea typeface="Mina"/>
                <a:cs typeface="Mina"/>
                <a:sym typeface="Mina"/>
              </a:rPr>
              <a:t>JUMLAH PENDERITA TERUS MENINGKAT SEIRING BERTAMBAHNYA POPULASI LANSIA; DIPERKIRAKAN KASUS AKAN MENINGKAT DRASTIS HINGGA TAHUN 2050.</a:t>
            </a:r>
          </a:p>
          <a:p>
            <a:pPr algn="l" marL="388620" indent="-194310" lvl="1">
              <a:lnSpc>
                <a:spcPts val="1800"/>
              </a:lnSpc>
              <a:buFont typeface="Arial"/>
              <a:buChar char="•"/>
            </a:pPr>
            <a:r>
              <a:rPr lang="en-US" sz="1800" spc="-53">
                <a:solidFill>
                  <a:srgbClr val="2B2B2B"/>
                </a:solidFill>
                <a:latin typeface="Mina"/>
                <a:ea typeface="Mina"/>
                <a:cs typeface="Mina"/>
                <a:sym typeface="Mina"/>
              </a:rPr>
              <a:t>MRI OTAK DIGUNAKAN UNTUK MENDETEKSI PERUBAHAN STRUKTURAL SEPERTI ATROFI KORTIKAL DAN PENYUSUTAN HIPOKAMPUS.</a:t>
            </a:r>
          </a:p>
          <a:p>
            <a:pPr algn="l" marL="388620" indent="-194310" lvl="1">
              <a:lnSpc>
                <a:spcPts val="1800"/>
              </a:lnSpc>
              <a:buFont typeface="Arial"/>
              <a:buChar char="•"/>
            </a:pPr>
            <a:r>
              <a:rPr lang="en-US" sz="1800" spc="-53">
                <a:solidFill>
                  <a:srgbClr val="2B2B2B"/>
                </a:solidFill>
                <a:latin typeface="Mina"/>
                <a:ea typeface="Mina"/>
                <a:cs typeface="Mina"/>
                <a:sym typeface="Mina"/>
              </a:rPr>
              <a:t>INTERPRETASI MRI SECARA MANUAL MEMILIKI KETERBATASAN KARENA BERSIFAT SUBJEKTIF DAN SULIT MENDETEKSI PERUBAHAN PADA STADIUM AWAL.</a:t>
            </a:r>
          </a:p>
        </p:txBody>
      </p:sp>
      <p:sp>
        <p:nvSpPr>
          <p:cNvPr name="TextBox 21" id="21"/>
          <p:cNvSpPr txBox="true"/>
          <p:nvPr/>
        </p:nvSpPr>
        <p:spPr>
          <a:xfrm rot="0">
            <a:off x="1696183" y="7292746"/>
            <a:ext cx="3633304" cy="12573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Mengembangkan sistem klasifikasi otomatis berbasis kecerdasan buatan untuk membantu diagnosis Alzheimer yang lebih cepat, konsisten, dan akurat menggunakan citra MRI otak.</a:t>
            </a:r>
          </a:p>
        </p:txBody>
      </p:sp>
      <p:sp>
        <p:nvSpPr>
          <p:cNvPr name="TextBox 22" id="22"/>
          <p:cNvSpPr txBox="true"/>
          <p:nvPr/>
        </p:nvSpPr>
        <p:spPr>
          <a:xfrm rot="0">
            <a:off x="5826847" y="7292746"/>
            <a:ext cx="3633304" cy="2095500"/>
          </a:xfrm>
          <a:prstGeom prst="rect">
            <a:avLst/>
          </a:prstGeom>
        </p:spPr>
        <p:txBody>
          <a:bodyPr anchor="t" rtlCol="false" tIns="0" lIns="0" bIns="0" rIns="0">
            <a:spAutoFit/>
          </a:bodyPr>
          <a:lstStyle/>
          <a:p>
            <a:pPr algn="l" marL="302262" indent="-151131" lvl="1">
              <a:lnSpc>
                <a:spcPts val="1680"/>
              </a:lnSpc>
              <a:buAutoNum type="arabicPeriod" startAt="1"/>
            </a:pPr>
            <a:r>
              <a:rPr lang="en-US" sz="1400">
                <a:solidFill>
                  <a:srgbClr val="2B2B2B"/>
                </a:solidFill>
                <a:latin typeface="Fira Code"/>
                <a:ea typeface="Fira Code"/>
                <a:cs typeface="Fira Code"/>
                <a:sym typeface="Fira Code"/>
              </a:rPr>
              <a:t>Bagaimana Preprocessing morfologi meningkatkan kualitas citra MRI?</a:t>
            </a:r>
          </a:p>
          <a:p>
            <a:pPr algn="l" marL="302262" indent="-151131" lvl="1">
              <a:lnSpc>
                <a:spcPts val="1680"/>
              </a:lnSpc>
              <a:buAutoNum type="arabicPeriod" startAt="1"/>
            </a:pPr>
            <a:r>
              <a:rPr lang="en-US" sz="1400">
                <a:solidFill>
                  <a:srgbClr val="2B2B2B"/>
                </a:solidFill>
                <a:latin typeface="Fira Code"/>
                <a:ea typeface="Fira Code"/>
                <a:cs typeface="Fira Code"/>
                <a:sym typeface="Fira Code"/>
              </a:rPr>
              <a:t>Bagaimana perbandingan performa LBP+SVM, CNN Baseline, ResNet50,  dan Hybrid CNN+Gabor+SVM?</a:t>
            </a:r>
          </a:p>
          <a:p>
            <a:pPr algn="l" marL="302262" indent="-151131" lvl="1">
              <a:lnSpc>
                <a:spcPts val="1680"/>
              </a:lnSpc>
              <a:buAutoNum type="arabicPeriod" startAt="1"/>
            </a:pPr>
            <a:r>
              <a:rPr lang="en-US" sz="1400">
                <a:solidFill>
                  <a:srgbClr val="2B2B2B"/>
                </a:solidFill>
                <a:latin typeface="Fira Code"/>
                <a:ea typeface="Fira Code"/>
                <a:cs typeface="Fira Code"/>
                <a:sym typeface="Fira Code"/>
              </a:rPr>
              <a:t>Seberapa akurat sistem klasifikasi membedakan 4 kelas tingkat keparahan Alzheimer?</a:t>
            </a:r>
          </a:p>
        </p:txBody>
      </p:sp>
      <p:sp>
        <p:nvSpPr>
          <p:cNvPr name="TextBox 23" id="23"/>
          <p:cNvSpPr txBox="true"/>
          <p:nvPr/>
        </p:nvSpPr>
        <p:spPr>
          <a:xfrm rot="0">
            <a:off x="6028647" y="6832971"/>
            <a:ext cx="3229704" cy="36195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RUMUSAN MASALAH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9959293" y="2195339"/>
            <a:ext cx="7349375" cy="829677"/>
            <a:chOff x="0" y="0"/>
            <a:chExt cx="1935638" cy="218516"/>
          </a:xfrm>
        </p:grpSpPr>
        <p:sp>
          <p:nvSpPr>
            <p:cNvPr name="Freeform 3" id="3"/>
            <p:cNvSpPr/>
            <p:nvPr/>
          </p:nvSpPr>
          <p:spPr>
            <a:xfrm flipH="false" flipV="false" rot="0">
              <a:off x="0" y="0"/>
              <a:ext cx="1935638" cy="218516"/>
            </a:xfrm>
            <a:custGeom>
              <a:avLst/>
              <a:gdLst/>
              <a:ahLst/>
              <a:cxnLst/>
              <a:rect r="r" b="b" t="t" l="l"/>
              <a:pathLst>
                <a:path h="218516" w="1935638">
                  <a:moveTo>
                    <a:pt x="0" y="0"/>
                  </a:moveTo>
                  <a:lnTo>
                    <a:pt x="1935638" y="0"/>
                  </a:lnTo>
                  <a:lnTo>
                    <a:pt x="1935638" y="218516"/>
                  </a:lnTo>
                  <a:lnTo>
                    <a:pt x="0" y="218516"/>
                  </a:lnTo>
                  <a:close/>
                </a:path>
              </a:pathLst>
            </a:custGeom>
            <a:solidFill>
              <a:srgbClr val="E8E8E8"/>
            </a:solidFill>
            <a:ln w="9525" cap="sq">
              <a:solidFill>
                <a:srgbClr val="000000"/>
              </a:solidFill>
              <a:prstDash val="solid"/>
              <a:miter/>
            </a:ln>
          </p:spPr>
        </p:sp>
        <p:sp>
          <p:nvSpPr>
            <p:cNvPr name="TextBox 4" id="4"/>
            <p:cNvSpPr txBox="true"/>
            <p:nvPr/>
          </p:nvSpPr>
          <p:spPr>
            <a:xfrm>
              <a:off x="0" y="28575"/>
              <a:ext cx="1935638" cy="189941"/>
            </a:xfrm>
            <a:prstGeom prst="rect">
              <a:avLst/>
            </a:prstGeom>
          </p:spPr>
          <p:txBody>
            <a:bodyPr anchor="ctr" rtlCol="false" tIns="50800" lIns="50800" bIns="50800" rIns="50800"/>
            <a:lstStyle/>
            <a:p>
              <a:pPr algn="ctr">
                <a:lnSpc>
                  <a:spcPts val="1800"/>
                </a:lnSpc>
              </a:pPr>
            </a:p>
          </p:txBody>
        </p:sp>
      </p:grpSp>
      <p:sp>
        <p:nvSpPr>
          <p:cNvPr name="Freeform 5" id="5"/>
          <p:cNvSpPr/>
          <p:nvPr/>
        </p:nvSpPr>
        <p:spPr>
          <a:xfrm flipH="false" flipV="true" rot="0">
            <a:off x="9959293" y="3148841"/>
            <a:ext cx="252007" cy="195649"/>
          </a:xfrm>
          <a:custGeom>
            <a:avLst/>
            <a:gdLst/>
            <a:ahLst/>
            <a:cxnLst/>
            <a:rect r="r" b="b" t="t" l="l"/>
            <a:pathLst>
              <a:path h="195649" w="252007">
                <a:moveTo>
                  <a:pt x="0" y="195649"/>
                </a:moveTo>
                <a:lnTo>
                  <a:pt x="252008" y="195649"/>
                </a:lnTo>
                <a:lnTo>
                  <a:pt x="252008" y="0"/>
                </a:lnTo>
                <a:lnTo>
                  <a:pt x="0" y="0"/>
                </a:lnTo>
                <a:lnTo>
                  <a:pt x="0" y="19564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7056661" y="3148841"/>
            <a:ext cx="252007" cy="195649"/>
          </a:xfrm>
          <a:custGeom>
            <a:avLst/>
            <a:gdLst/>
            <a:ahLst/>
            <a:cxnLst/>
            <a:rect r="r" b="b" t="t" l="l"/>
            <a:pathLst>
              <a:path h="195649" w="252007">
                <a:moveTo>
                  <a:pt x="252007" y="195649"/>
                </a:moveTo>
                <a:lnTo>
                  <a:pt x="0" y="195649"/>
                </a:lnTo>
                <a:lnTo>
                  <a:pt x="0" y="0"/>
                </a:lnTo>
                <a:lnTo>
                  <a:pt x="252007" y="0"/>
                </a:lnTo>
                <a:lnTo>
                  <a:pt x="252007" y="19564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9959293" y="8764427"/>
            <a:ext cx="252007" cy="195649"/>
          </a:xfrm>
          <a:custGeom>
            <a:avLst/>
            <a:gdLst/>
            <a:ahLst/>
            <a:cxnLst/>
            <a:rect r="r" b="b" t="t" l="l"/>
            <a:pathLst>
              <a:path h="195649" w="252007">
                <a:moveTo>
                  <a:pt x="0" y="0"/>
                </a:moveTo>
                <a:lnTo>
                  <a:pt x="252008" y="0"/>
                </a:lnTo>
                <a:lnTo>
                  <a:pt x="252008" y="195649"/>
                </a:lnTo>
                <a:lnTo>
                  <a:pt x="0" y="195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7056661" y="8764427"/>
            <a:ext cx="252007" cy="195649"/>
          </a:xfrm>
          <a:custGeom>
            <a:avLst/>
            <a:gdLst/>
            <a:ahLst/>
            <a:cxnLst/>
            <a:rect r="r" b="b" t="t" l="l"/>
            <a:pathLst>
              <a:path h="195649" w="252007">
                <a:moveTo>
                  <a:pt x="252007" y="0"/>
                </a:moveTo>
                <a:lnTo>
                  <a:pt x="0" y="0"/>
                </a:lnTo>
                <a:lnTo>
                  <a:pt x="0" y="195649"/>
                </a:lnTo>
                <a:lnTo>
                  <a:pt x="252007" y="195649"/>
                </a:lnTo>
                <a:lnTo>
                  <a:pt x="2520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6784" y="0"/>
            <a:ext cx="7603585" cy="1028700"/>
            <a:chOff x="0" y="0"/>
            <a:chExt cx="2002590" cy="270933"/>
          </a:xfrm>
        </p:grpSpPr>
        <p:sp>
          <p:nvSpPr>
            <p:cNvPr name="Freeform 10" id="10"/>
            <p:cNvSpPr/>
            <p:nvPr/>
          </p:nvSpPr>
          <p:spPr>
            <a:xfrm flipH="false" flipV="false" rot="0">
              <a:off x="0" y="0"/>
              <a:ext cx="2002590" cy="270933"/>
            </a:xfrm>
            <a:custGeom>
              <a:avLst/>
              <a:gdLst/>
              <a:ahLst/>
              <a:cxnLst/>
              <a:rect r="r" b="b" t="t" l="l"/>
              <a:pathLst>
                <a:path h="270933" w="2002590">
                  <a:moveTo>
                    <a:pt x="0" y="0"/>
                  </a:moveTo>
                  <a:lnTo>
                    <a:pt x="2002590" y="0"/>
                  </a:lnTo>
                  <a:lnTo>
                    <a:pt x="2002590" y="270933"/>
                  </a:lnTo>
                  <a:lnTo>
                    <a:pt x="0" y="270933"/>
                  </a:lnTo>
                  <a:close/>
                </a:path>
              </a:pathLst>
            </a:custGeom>
            <a:solidFill>
              <a:srgbClr val="2B2B2B"/>
            </a:solidFill>
          </p:spPr>
        </p:sp>
        <p:sp>
          <p:nvSpPr>
            <p:cNvPr name="TextBox 11" id="11"/>
            <p:cNvSpPr txBox="true"/>
            <p:nvPr/>
          </p:nvSpPr>
          <p:spPr>
            <a:xfrm>
              <a:off x="0" y="28575"/>
              <a:ext cx="2002590" cy="242358"/>
            </a:xfrm>
            <a:prstGeom prst="rect">
              <a:avLst/>
            </a:prstGeom>
          </p:spPr>
          <p:txBody>
            <a:bodyPr anchor="ctr" rtlCol="false" tIns="50800" lIns="50800" bIns="50800" rIns="50800"/>
            <a:lstStyle/>
            <a:p>
              <a:pPr algn="ctr">
                <a:lnSpc>
                  <a:spcPts val="1800"/>
                </a:lnSpc>
              </a:pPr>
            </a:p>
          </p:txBody>
        </p:sp>
      </p:grpSp>
      <p:sp>
        <p:nvSpPr>
          <p:cNvPr name="Freeform 12" id="12"/>
          <p:cNvSpPr/>
          <p:nvPr/>
        </p:nvSpPr>
        <p:spPr>
          <a:xfrm flipH="false" flipV="false" rot="0">
            <a:off x="8277578" y="5951793"/>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26784" y="7548454"/>
            <a:ext cx="6702223" cy="1704973"/>
          </a:xfrm>
          <a:prstGeom prst="rect">
            <a:avLst/>
          </a:prstGeom>
        </p:spPr>
        <p:txBody>
          <a:bodyPr anchor="t" rtlCol="false" tIns="0" lIns="0" bIns="0" rIns="0">
            <a:spAutoFit/>
          </a:bodyPr>
          <a:lstStyle/>
          <a:p>
            <a:pPr algn="l">
              <a:lnSpc>
                <a:spcPts val="5999"/>
              </a:lnSpc>
            </a:pPr>
            <a:r>
              <a:rPr lang="en-US" sz="9999" spc="-199">
                <a:solidFill>
                  <a:srgbClr val="2B2B2B"/>
                </a:solidFill>
                <a:latin typeface="RQND Pro Condensed"/>
                <a:ea typeface="RQND Pro Condensed"/>
                <a:cs typeface="RQND Pro Condensed"/>
                <a:sym typeface="RQND Pro Condensed"/>
              </a:rPr>
              <a:t>DATASET EKSPLORATORY</a:t>
            </a:r>
          </a:p>
        </p:txBody>
      </p:sp>
      <p:sp>
        <p:nvSpPr>
          <p:cNvPr name="AutoShape 14" id="14"/>
          <p:cNvSpPr/>
          <p:nvPr/>
        </p:nvSpPr>
        <p:spPr>
          <a:xfrm flipV="true">
            <a:off x="1028703" y="5133975"/>
            <a:ext cx="7601669" cy="4763"/>
          </a:xfrm>
          <a:prstGeom prst="line">
            <a:avLst/>
          </a:prstGeom>
          <a:ln cap="flat" w="9525">
            <a:solidFill>
              <a:srgbClr val="2B2B2B"/>
            </a:solidFill>
            <a:prstDash val="solid"/>
            <a:headEnd type="none" len="sm" w="sm"/>
            <a:tailEnd type="none" len="sm" w="sm"/>
          </a:ln>
        </p:spPr>
      </p:sp>
      <p:sp>
        <p:nvSpPr>
          <p:cNvPr name="Freeform 15" id="15"/>
          <p:cNvSpPr/>
          <p:nvPr/>
        </p:nvSpPr>
        <p:spPr>
          <a:xfrm flipH="false" flipV="false" rot="-806134">
            <a:off x="6289963" y="8169138"/>
            <a:ext cx="3282135" cy="3294489"/>
          </a:xfrm>
          <a:custGeom>
            <a:avLst/>
            <a:gdLst/>
            <a:ahLst/>
            <a:cxnLst/>
            <a:rect r="r" b="b" t="t" l="l"/>
            <a:pathLst>
              <a:path h="3294489" w="3282135">
                <a:moveTo>
                  <a:pt x="0" y="0"/>
                </a:moveTo>
                <a:lnTo>
                  <a:pt x="3282135" y="0"/>
                </a:lnTo>
                <a:lnTo>
                  <a:pt x="3282135" y="3294489"/>
                </a:lnTo>
                <a:lnTo>
                  <a:pt x="0" y="3294489"/>
                </a:lnTo>
                <a:lnTo>
                  <a:pt x="0" y="0"/>
                </a:lnTo>
                <a:close/>
              </a:path>
            </a:pathLst>
          </a:custGeom>
          <a:blipFill>
            <a:blip r:embed="rId6"/>
            <a:stretch>
              <a:fillRect l="0" t="0" r="0" b="0"/>
            </a:stretch>
          </a:blipFill>
        </p:spPr>
      </p:sp>
      <p:sp>
        <p:nvSpPr>
          <p:cNvPr name="Freeform 16" id="16"/>
          <p:cNvSpPr/>
          <p:nvPr/>
        </p:nvSpPr>
        <p:spPr>
          <a:xfrm flipH="true" flipV="false" rot="4595882">
            <a:off x="-1564016" y="-1039085"/>
            <a:ext cx="4512167" cy="4965246"/>
          </a:xfrm>
          <a:custGeom>
            <a:avLst/>
            <a:gdLst/>
            <a:ahLst/>
            <a:cxnLst/>
            <a:rect r="r" b="b" t="t" l="l"/>
            <a:pathLst>
              <a:path h="4965246" w="4512167">
                <a:moveTo>
                  <a:pt x="4512168" y="0"/>
                </a:moveTo>
                <a:lnTo>
                  <a:pt x="0" y="0"/>
                </a:lnTo>
                <a:lnTo>
                  <a:pt x="0" y="4965247"/>
                </a:lnTo>
                <a:lnTo>
                  <a:pt x="4512168" y="4965247"/>
                </a:lnTo>
                <a:lnTo>
                  <a:pt x="4512168" y="0"/>
                </a:lnTo>
                <a:close/>
              </a:path>
            </a:pathLst>
          </a:custGeom>
          <a:blipFill>
            <a:blip r:embed="rId7"/>
            <a:stretch>
              <a:fillRect l="0" t="0" r="0" b="0"/>
            </a:stretch>
          </a:blipFill>
        </p:spPr>
      </p:sp>
      <p:grpSp>
        <p:nvGrpSpPr>
          <p:cNvPr name="Group 17" id="17"/>
          <p:cNvGrpSpPr/>
          <p:nvPr/>
        </p:nvGrpSpPr>
        <p:grpSpPr>
          <a:xfrm rot="0">
            <a:off x="1028700" y="1028700"/>
            <a:ext cx="7601669" cy="3500108"/>
            <a:chOff x="0" y="0"/>
            <a:chExt cx="1177697" cy="542258"/>
          </a:xfrm>
        </p:grpSpPr>
        <p:sp>
          <p:nvSpPr>
            <p:cNvPr name="Freeform 18" id="18"/>
            <p:cNvSpPr/>
            <p:nvPr/>
          </p:nvSpPr>
          <p:spPr>
            <a:xfrm flipH="false" flipV="false" rot="0">
              <a:off x="0" y="0"/>
              <a:ext cx="1177697" cy="542258"/>
            </a:xfrm>
            <a:custGeom>
              <a:avLst/>
              <a:gdLst/>
              <a:ahLst/>
              <a:cxnLst/>
              <a:rect r="r" b="b" t="t" l="l"/>
              <a:pathLst>
                <a:path h="542258" w="1177697">
                  <a:moveTo>
                    <a:pt x="0" y="0"/>
                  </a:moveTo>
                  <a:lnTo>
                    <a:pt x="1177697" y="0"/>
                  </a:lnTo>
                  <a:lnTo>
                    <a:pt x="1177697" y="542258"/>
                  </a:lnTo>
                  <a:lnTo>
                    <a:pt x="0" y="542258"/>
                  </a:lnTo>
                  <a:close/>
                </a:path>
              </a:pathLst>
            </a:custGeom>
            <a:blipFill>
              <a:blip r:embed="rId8"/>
              <a:stretch>
                <a:fillRect l="-19763" t="0" r="-19763" b="0"/>
              </a:stretch>
            </a:blipFill>
          </p:spPr>
        </p:sp>
      </p:grpSp>
      <p:sp>
        <p:nvSpPr>
          <p:cNvPr name="TextBox 19" id="19"/>
          <p:cNvSpPr txBox="true"/>
          <p:nvPr/>
        </p:nvSpPr>
        <p:spPr>
          <a:xfrm rot="0">
            <a:off x="10267167" y="5261231"/>
            <a:ext cx="6634891" cy="6286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Pada masing-masing kelas terdapat 10.000 data sehingga data sangat balance sehingga tidak perlu oversampling atau undersampling dan memudahkan proses analisis.</a:t>
            </a:r>
          </a:p>
        </p:txBody>
      </p:sp>
      <p:sp>
        <p:nvSpPr>
          <p:cNvPr name="TextBox 20" id="20"/>
          <p:cNvSpPr txBox="true"/>
          <p:nvPr/>
        </p:nvSpPr>
        <p:spPr>
          <a:xfrm rot="0">
            <a:off x="830319" y="5888658"/>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21" id="21"/>
          <p:cNvSpPr txBox="true"/>
          <p:nvPr/>
        </p:nvSpPr>
        <p:spPr>
          <a:xfrm rot="0">
            <a:off x="10267167" y="4900283"/>
            <a:ext cx="6634891"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DATASET SEIMBANG</a:t>
            </a:r>
          </a:p>
        </p:txBody>
      </p:sp>
      <p:sp>
        <p:nvSpPr>
          <p:cNvPr name="TextBox 22" id="22"/>
          <p:cNvSpPr txBox="true"/>
          <p:nvPr/>
        </p:nvSpPr>
        <p:spPr>
          <a:xfrm rot="0">
            <a:off x="9959293" y="2429186"/>
            <a:ext cx="7349375" cy="361950"/>
          </a:xfrm>
          <a:prstGeom prst="rect">
            <a:avLst/>
          </a:prstGeom>
        </p:spPr>
        <p:txBody>
          <a:bodyPr anchor="t" rtlCol="false" tIns="0" lIns="0" bIns="0" rIns="0">
            <a:spAutoFit/>
          </a:bodyPr>
          <a:lstStyle/>
          <a:p>
            <a:pPr algn="ctr">
              <a:lnSpc>
                <a:spcPts val="2879"/>
              </a:lnSpc>
            </a:pPr>
            <a:r>
              <a:rPr lang="en-US" sz="2400">
                <a:solidFill>
                  <a:srgbClr val="2B2B2B"/>
                </a:solidFill>
                <a:latin typeface="Fira Code"/>
                <a:ea typeface="Fira Code"/>
                <a:cs typeface="Fira Code"/>
                <a:sym typeface="Fira Code"/>
              </a:rPr>
              <a:t>TEMUAN EDA</a:t>
            </a:r>
          </a:p>
        </p:txBody>
      </p:sp>
      <p:sp>
        <p:nvSpPr>
          <p:cNvPr name="TextBox 23" id="23"/>
          <p:cNvSpPr txBox="true"/>
          <p:nvPr/>
        </p:nvSpPr>
        <p:spPr>
          <a:xfrm rot="0">
            <a:off x="10267167" y="6622304"/>
            <a:ext cx="6634891" cy="4191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menggunakan subset 500 sample per kelas untuk model sehingga masih representatif dengan total 40% data.</a:t>
            </a:r>
          </a:p>
        </p:txBody>
      </p:sp>
      <p:sp>
        <p:nvSpPr>
          <p:cNvPr name="TextBox 24" id="24"/>
          <p:cNvSpPr txBox="true"/>
          <p:nvPr/>
        </p:nvSpPr>
        <p:spPr>
          <a:xfrm rot="0">
            <a:off x="10267167" y="6261356"/>
            <a:ext cx="6634891"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SAMPLE</a:t>
            </a:r>
          </a:p>
        </p:txBody>
      </p:sp>
      <p:sp>
        <p:nvSpPr>
          <p:cNvPr name="TextBox 25" id="25"/>
          <p:cNvSpPr txBox="true"/>
          <p:nvPr/>
        </p:nvSpPr>
        <p:spPr>
          <a:xfrm rot="0">
            <a:off x="10267167" y="7773827"/>
            <a:ext cx="6634891" cy="6286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Format bawaan dataset menggunakan RGB, selain itu memiliki berbagai ukuran data asli yang sudah dinormalisasikan ke 224x224</a:t>
            </a:r>
          </a:p>
        </p:txBody>
      </p:sp>
      <p:sp>
        <p:nvSpPr>
          <p:cNvPr name="TextBox 26" id="26"/>
          <p:cNvSpPr txBox="true"/>
          <p:nvPr/>
        </p:nvSpPr>
        <p:spPr>
          <a:xfrm rot="0">
            <a:off x="10267167" y="7412879"/>
            <a:ext cx="6634891"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FORMAT</a:t>
            </a:r>
          </a:p>
        </p:txBody>
      </p:sp>
      <p:grpSp>
        <p:nvGrpSpPr>
          <p:cNvPr name="Group 27" id="27"/>
          <p:cNvGrpSpPr/>
          <p:nvPr/>
        </p:nvGrpSpPr>
        <p:grpSpPr>
          <a:xfrm rot="0">
            <a:off x="9909925" y="798439"/>
            <a:ext cx="2171045" cy="1028700"/>
            <a:chOff x="0" y="0"/>
            <a:chExt cx="571798" cy="270933"/>
          </a:xfrm>
        </p:grpSpPr>
        <p:sp>
          <p:nvSpPr>
            <p:cNvPr name="Freeform 28" id="28"/>
            <p:cNvSpPr/>
            <p:nvPr/>
          </p:nvSpPr>
          <p:spPr>
            <a:xfrm flipH="false" flipV="false" rot="0">
              <a:off x="0" y="0"/>
              <a:ext cx="571798" cy="270933"/>
            </a:xfrm>
            <a:custGeom>
              <a:avLst/>
              <a:gdLst/>
              <a:ahLst/>
              <a:cxnLst/>
              <a:rect r="r" b="b" t="t" l="l"/>
              <a:pathLst>
                <a:path h="270933" w="571798">
                  <a:moveTo>
                    <a:pt x="71320" y="0"/>
                  </a:moveTo>
                  <a:lnTo>
                    <a:pt x="500478" y="0"/>
                  </a:lnTo>
                  <a:cubicBezTo>
                    <a:pt x="539867" y="0"/>
                    <a:pt x="571798" y="31931"/>
                    <a:pt x="571798" y="71320"/>
                  </a:cubicBezTo>
                  <a:lnTo>
                    <a:pt x="571798" y="199614"/>
                  </a:lnTo>
                  <a:cubicBezTo>
                    <a:pt x="571798" y="218529"/>
                    <a:pt x="564284" y="236669"/>
                    <a:pt x="550909" y="250044"/>
                  </a:cubicBezTo>
                  <a:cubicBezTo>
                    <a:pt x="537534" y="263419"/>
                    <a:pt x="519393" y="270933"/>
                    <a:pt x="500478" y="270933"/>
                  </a:cubicBezTo>
                  <a:lnTo>
                    <a:pt x="71320" y="270933"/>
                  </a:lnTo>
                  <a:cubicBezTo>
                    <a:pt x="52405" y="270933"/>
                    <a:pt x="34264" y="263419"/>
                    <a:pt x="20889" y="250044"/>
                  </a:cubicBezTo>
                  <a:cubicBezTo>
                    <a:pt x="7514" y="236669"/>
                    <a:pt x="0" y="218529"/>
                    <a:pt x="0" y="199614"/>
                  </a:cubicBezTo>
                  <a:lnTo>
                    <a:pt x="0" y="71320"/>
                  </a:lnTo>
                  <a:cubicBezTo>
                    <a:pt x="0" y="52405"/>
                    <a:pt x="7514" y="34264"/>
                    <a:pt x="20889" y="20889"/>
                  </a:cubicBezTo>
                  <a:cubicBezTo>
                    <a:pt x="34264" y="7514"/>
                    <a:pt x="52405" y="0"/>
                    <a:pt x="71320" y="0"/>
                  </a:cubicBezTo>
                  <a:close/>
                </a:path>
              </a:pathLst>
            </a:custGeom>
            <a:solidFill>
              <a:srgbClr val="E8E8E8"/>
            </a:solidFill>
            <a:ln w="19050" cap="sq">
              <a:solidFill>
                <a:srgbClr val="000000"/>
              </a:solidFill>
              <a:prstDash val="dash"/>
              <a:miter/>
            </a:ln>
          </p:spPr>
        </p:sp>
        <p:sp>
          <p:nvSpPr>
            <p:cNvPr name="TextBox 29" id="29"/>
            <p:cNvSpPr txBox="true"/>
            <p:nvPr/>
          </p:nvSpPr>
          <p:spPr>
            <a:xfrm>
              <a:off x="0" y="28575"/>
              <a:ext cx="571798" cy="242358"/>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30" id="30"/>
          <p:cNvSpPr txBox="true"/>
          <p:nvPr/>
        </p:nvSpPr>
        <p:spPr>
          <a:xfrm rot="0">
            <a:off x="9985234" y="950839"/>
            <a:ext cx="2020426" cy="361950"/>
          </a:xfrm>
          <a:prstGeom prst="rect">
            <a:avLst/>
          </a:prstGeom>
        </p:spPr>
        <p:txBody>
          <a:bodyPr anchor="t" rtlCol="false" tIns="0" lIns="0" bIns="0" rIns="0">
            <a:spAutoFit/>
          </a:bodyPr>
          <a:lstStyle/>
          <a:p>
            <a:pPr algn="ctr">
              <a:lnSpc>
                <a:spcPts val="2999"/>
              </a:lnSpc>
            </a:pPr>
            <a:r>
              <a:rPr lang="en-US" b="true" sz="2499">
                <a:solidFill>
                  <a:srgbClr val="2B2B2B"/>
                </a:solidFill>
                <a:latin typeface="Fira Code Bold"/>
                <a:ea typeface="Fira Code Bold"/>
                <a:cs typeface="Fira Code Bold"/>
                <a:sym typeface="Fira Code Bold"/>
              </a:rPr>
              <a:t>40.000</a:t>
            </a:r>
          </a:p>
        </p:txBody>
      </p:sp>
      <p:grpSp>
        <p:nvGrpSpPr>
          <p:cNvPr name="Group 31" id="31"/>
          <p:cNvGrpSpPr/>
          <p:nvPr/>
        </p:nvGrpSpPr>
        <p:grpSpPr>
          <a:xfrm rot="0">
            <a:off x="12499090" y="798439"/>
            <a:ext cx="2171045" cy="1028700"/>
            <a:chOff x="0" y="0"/>
            <a:chExt cx="571798" cy="270933"/>
          </a:xfrm>
        </p:grpSpPr>
        <p:sp>
          <p:nvSpPr>
            <p:cNvPr name="Freeform 32" id="32"/>
            <p:cNvSpPr/>
            <p:nvPr/>
          </p:nvSpPr>
          <p:spPr>
            <a:xfrm flipH="false" flipV="false" rot="0">
              <a:off x="0" y="0"/>
              <a:ext cx="571798" cy="270933"/>
            </a:xfrm>
            <a:custGeom>
              <a:avLst/>
              <a:gdLst/>
              <a:ahLst/>
              <a:cxnLst/>
              <a:rect r="r" b="b" t="t" l="l"/>
              <a:pathLst>
                <a:path h="270933" w="571798">
                  <a:moveTo>
                    <a:pt x="71320" y="0"/>
                  </a:moveTo>
                  <a:lnTo>
                    <a:pt x="500478" y="0"/>
                  </a:lnTo>
                  <a:cubicBezTo>
                    <a:pt x="539867" y="0"/>
                    <a:pt x="571798" y="31931"/>
                    <a:pt x="571798" y="71320"/>
                  </a:cubicBezTo>
                  <a:lnTo>
                    <a:pt x="571798" y="199614"/>
                  </a:lnTo>
                  <a:cubicBezTo>
                    <a:pt x="571798" y="218529"/>
                    <a:pt x="564284" y="236669"/>
                    <a:pt x="550909" y="250044"/>
                  </a:cubicBezTo>
                  <a:cubicBezTo>
                    <a:pt x="537534" y="263419"/>
                    <a:pt x="519393" y="270933"/>
                    <a:pt x="500478" y="270933"/>
                  </a:cubicBezTo>
                  <a:lnTo>
                    <a:pt x="71320" y="270933"/>
                  </a:lnTo>
                  <a:cubicBezTo>
                    <a:pt x="52405" y="270933"/>
                    <a:pt x="34264" y="263419"/>
                    <a:pt x="20889" y="250044"/>
                  </a:cubicBezTo>
                  <a:cubicBezTo>
                    <a:pt x="7514" y="236669"/>
                    <a:pt x="0" y="218529"/>
                    <a:pt x="0" y="199614"/>
                  </a:cubicBezTo>
                  <a:lnTo>
                    <a:pt x="0" y="71320"/>
                  </a:lnTo>
                  <a:cubicBezTo>
                    <a:pt x="0" y="52405"/>
                    <a:pt x="7514" y="34264"/>
                    <a:pt x="20889" y="20889"/>
                  </a:cubicBezTo>
                  <a:cubicBezTo>
                    <a:pt x="34264" y="7514"/>
                    <a:pt x="52405" y="0"/>
                    <a:pt x="71320" y="0"/>
                  </a:cubicBezTo>
                  <a:close/>
                </a:path>
              </a:pathLst>
            </a:custGeom>
            <a:solidFill>
              <a:srgbClr val="E8E8E8"/>
            </a:solidFill>
            <a:ln w="19050" cap="sq">
              <a:solidFill>
                <a:srgbClr val="000000"/>
              </a:solidFill>
              <a:prstDash val="dash"/>
              <a:miter/>
            </a:ln>
          </p:spPr>
        </p:sp>
        <p:sp>
          <p:nvSpPr>
            <p:cNvPr name="TextBox 33" id="33"/>
            <p:cNvSpPr txBox="true"/>
            <p:nvPr/>
          </p:nvSpPr>
          <p:spPr>
            <a:xfrm>
              <a:off x="0" y="28575"/>
              <a:ext cx="571798" cy="242358"/>
            </a:xfrm>
            <a:prstGeom prst="rect">
              <a:avLst/>
            </a:prstGeom>
          </p:spPr>
          <p:txBody>
            <a:bodyPr anchor="ctr" rtlCol="false" tIns="50800" lIns="50800" bIns="50800" rIns="50800"/>
            <a:lstStyle/>
            <a:p>
              <a:pPr algn="ctr" marL="0" indent="0" lvl="0">
                <a:lnSpc>
                  <a:spcPts val="1800"/>
                </a:lnSpc>
                <a:spcBef>
                  <a:spcPct val="0"/>
                </a:spcBef>
              </a:pPr>
            </a:p>
          </p:txBody>
        </p:sp>
      </p:grpSp>
      <p:sp>
        <p:nvSpPr>
          <p:cNvPr name="TextBox 34" id="34"/>
          <p:cNvSpPr txBox="true"/>
          <p:nvPr/>
        </p:nvSpPr>
        <p:spPr>
          <a:xfrm rot="0">
            <a:off x="12694628" y="1343526"/>
            <a:ext cx="1779970" cy="371475"/>
          </a:xfrm>
          <a:prstGeom prst="rect">
            <a:avLst/>
          </a:prstGeom>
        </p:spPr>
        <p:txBody>
          <a:bodyPr anchor="t" rtlCol="false" tIns="0" lIns="0" bIns="0" rIns="0">
            <a:spAutoFit/>
          </a:bodyPr>
          <a:lstStyle/>
          <a:p>
            <a:pPr algn="ctr">
              <a:lnSpc>
                <a:spcPts val="1439"/>
              </a:lnSpc>
            </a:pPr>
            <a:r>
              <a:rPr lang="en-US" sz="1200" b="true">
                <a:solidFill>
                  <a:srgbClr val="2B2B2B"/>
                </a:solidFill>
                <a:latin typeface="Fira Code Bold"/>
                <a:ea typeface="Fira Code Bold"/>
                <a:cs typeface="Fira Code Bold"/>
                <a:sym typeface="Fira Code Bold"/>
              </a:rPr>
              <a:t>Non - Very Mild</a:t>
            </a:r>
          </a:p>
          <a:p>
            <a:pPr algn="ctr">
              <a:lnSpc>
                <a:spcPts val="1439"/>
              </a:lnSpc>
            </a:pPr>
            <a:r>
              <a:rPr lang="en-US" sz="1200" b="true">
                <a:solidFill>
                  <a:srgbClr val="2B2B2B"/>
                </a:solidFill>
                <a:latin typeface="Fira Code Bold"/>
                <a:ea typeface="Fira Code Bold"/>
                <a:cs typeface="Fira Code Bold"/>
                <a:sym typeface="Fira Code Bold"/>
              </a:rPr>
              <a:t> - Mild - Moderate</a:t>
            </a:r>
          </a:p>
        </p:txBody>
      </p:sp>
      <p:sp>
        <p:nvSpPr>
          <p:cNvPr name="TextBox 35" id="35"/>
          <p:cNvSpPr txBox="true"/>
          <p:nvPr/>
        </p:nvSpPr>
        <p:spPr>
          <a:xfrm rot="0">
            <a:off x="9959293" y="1434013"/>
            <a:ext cx="2046367" cy="190500"/>
          </a:xfrm>
          <a:prstGeom prst="rect">
            <a:avLst/>
          </a:prstGeom>
        </p:spPr>
        <p:txBody>
          <a:bodyPr anchor="t" rtlCol="false" tIns="0" lIns="0" bIns="0" rIns="0">
            <a:spAutoFit/>
          </a:bodyPr>
          <a:lstStyle/>
          <a:p>
            <a:pPr algn="ctr">
              <a:lnSpc>
                <a:spcPts val="1439"/>
              </a:lnSpc>
            </a:pPr>
            <a:r>
              <a:rPr lang="en-US" sz="1200" b="true">
                <a:solidFill>
                  <a:srgbClr val="2B2B2B"/>
                </a:solidFill>
                <a:latin typeface="Fira Code Bold"/>
                <a:ea typeface="Fira Code Bold"/>
                <a:cs typeface="Fira Code Bold"/>
                <a:sym typeface="Fira Code Bold"/>
              </a:rPr>
              <a:t>Total Citra MRI</a:t>
            </a:r>
          </a:p>
        </p:txBody>
      </p:sp>
      <p:sp>
        <p:nvSpPr>
          <p:cNvPr name="TextBox 36" id="36"/>
          <p:cNvSpPr txBox="true"/>
          <p:nvPr/>
        </p:nvSpPr>
        <p:spPr>
          <a:xfrm rot="0">
            <a:off x="12574399" y="950839"/>
            <a:ext cx="2020426" cy="361950"/>
          </a:xfrm>
          <a:prstGeom prst="rect">
            <a:avLst/>
          </a:prstGeom>
        </p:spPr>
        <p:txBody>
          <a:bodyPr anchor="t" rtlCol="false" tIns="0" lIns="0" bIns="0" rIns="0">
            <a:spAutoFit/>
          </a:bodyPr>
          <a:lstStyle/>
          <a:p>
            <a:pPr algn="ctr">
              <a:lnSpc>
                <a:spcPts val="2999"/>
              </a:lnSpc>
            </a:pPr>
            <a:r>
              <a:rPr lang="en-US" b="true" sz="2499">
                <a:solidFill>
                  <a:srgbClr val="2B2B2B"/>
                </a:solidFill>
                <a:latin typeface="Fira Code Bold"/>
                <a:ea typeface="Fira Code Bold"/>
                <a:cs typeface="Fira Code Bold"/>
                <a:sym typeface="Fira Code Bold"/>
              </a:rPr>
              <a:t>4 KELAS</a:t>
            </a:r>
          </a:p>
        </p:txBody>
      </p:sp>
      <p:grpSp>
        <p:nvGrpSpPr>
          <p:cNvPr name="Group 37" id="37"/>
          <p:cNvGrpSpPr/>
          <p:nvPr/>
        </p:nvGrpSpPr>
        <p:grpSpPr>
          <a:xfrm rot="0">
            <a:off x="15088255" y="798439"/>
            <a:ext cx="2171045" cy="1028700"/>
            <a:chOff x="0" y="0"/>
            <a:chExt cx="571754" cy="270891"/>
          </a:xfrm>
        </p:grpSpPr>
        <p:sp>
          <p:nvSpPr>
            <p:cNvPr name="Freeform 38" id="38"/>
            <p:cNvSpPr/>
            <p:nvPr/>
          </p:nvSpPr>
          <p:spPr>
            <a:xfrm flipH="false" flipV="false" rot="0">
              <a:off x="0" y="0"/>
              <a:ext cx="571754" cy="270891"/>
            </a:xfrm>
            <a:custGeom>
              <a:avLst/>
              <a:gdLst/>
              <a:ahLst/>
              <a:cxnLst/>
              <a:rect r="r" b="b" t="t" l="l"/>
              <a:pathLst>
                <a:path h="270891" w="571754">
                  <a:moveTo>
                    <a:pt x="571754" y="71320"/>
                  </a:moveTo>
                  <a:lnTo>
                    <a:pt x="571754" y="199571"/>
                  </a:lnTo>
                  <a:cubicBezTo>
                    <a:pt x="571754" y="238960"/>
                    <a:pt x="539823" y="270891"/>
                    <a:pt x="500434" y="270891"/>
                  </a:cubicBezTo>
                  <a:lnTo>
                    <a:pt x="71320" y="270891"/>
                  </a:lnTo>
                  <a:cubicBezTo>
                    <a:pt x="52405" y="270891"/>
                    <a:pt x="34264" y="263377"/>
                    <a:pt x="20889" y="250002"/>
                  </a:cubicBezTo>
                  <a:cubicBezTo>
                    <a:pt x="7514" y="236627"/>
                    <a:pt x="0" y="218486"/>
                    <a:pt x="0" y="199571"/>
                  </a:cubicBezTo>
                  <a:lnTo>
                    <a:pt x="0" y="71320"/>
                  </a:lnTo>
                  <a:cubicBezTo>
                    <a:pt x="0" y="52405"/>
                    <a:pt x="7514" y="34264"/>
                    <a:pt x="20889" y="20889"/>
                  </a:cubicBezTo>
                  <a:cubicBezTo>
                    <a:pt x="34264" y="7514"/>
                    <a:pt x="52405" y="0"/>
                    <a:pt x="71320" y="0"/>
                  </a:cubicBezTo>
                  <a:lnTo>
                    <a:pt x="500434" y="0"/>
                  </a:lnTo>
                  <a:cubicBezTo>
                    <a:pt x="519349" y="0"/>
                    <a:pt x="537490" y="7514"/>
                    <a:pt x="550865" y="20889"/>
                  </a:cubicBezTo>
                  <a:cubicBezTo>
                    <a:pt x="564240" y="34264"/>
                    <a:pt x="571754" y="52405"/>
                    <a:pt x="571754" y="71320"/>
                  </a:cubicBezTo>
                  <a:close/>
                </a:path>
              </a:pathLst>
            </a:custGeom>
            <a:solidFill>
              <a:srgbClr val="E8E8E8"/>
            </a:solidFill>
            <a:ln w="19050" cap="sq">
              <a:solidFill>
                <a:srgbClr val="000000"/>
              </a:solidFill>
              <a:prstDash val="dash"/>
              <a:miter/>
            </a:ln>
          </p:spPr>
        </p:sp>
        <p:sp>
          <p:nvSpPr>
            <p:cNvPr name="TextBox 39" id="39"/>
            <p:cNvSpPr txBox="true"/>
            <p:nvPr/>
          </p:nvSpPr>
          <p:spPr>
            <a:xfrm>
              <a:off x="0" y="28575"/>
              <a:ext cx="571754" cy="242316"/>
            </a:xfrm>
            <a:prstGeom prst="rect">
              <a:avLst/>
            </a:prstGeom>
          </p:spPr>
          <p:txBody>
            <a:bodyPr anchor="ctr" rtlCol="false" tIns="50800" lIns="50800" bIns="50800" rIns="50800"/>
            <a:lstStyle/>
            <a:p>
              <a:pPr algn="ctr">
                <a:lnSpc>
                  <a:spcPts val="1800"/>
                </a:lnSpc>
              </a:pPr>
            </a:p>
          </p:txBody>
        </p:sp>
      </p:grpSp>
      <p:sp>
        <p:nvSpPr>
          <p:cNvPr name="TextBox 40" id="40"/>
          <p:cNvSpPr txBox="true"/>
          <p:nvPr/>
        </p:nvSpPr>
        <p:spPr>
          <a:xfrm rot="0">
            <a:off x="15163564" y="950839"/>
            <a:ext cx="2020426" cy="361950"/>
          </a:xfrm>
          <a:prstGeom prst="rect">
            <a:avLst/>
          </a:prstGeom>
        </p:spPr>
        <p:txBody>
          <a:bodyPr anchor="t" rtlCol="false" tIns="0" lIns="0" bIns="0" rIns="0">
            <a:spAutoFit/>
          </a:bodyPr>
          <a:lstStyle/>
          <a:p>
            <a:pPr algn="ctr">
              <a:lnSpc>
                <a:spcPts val="2999"/>
              </a:lnSpc>
            </a:pPr>
            <a:r>
              <a:rPr lang="en-US" b="true" sz="2499">
                <a:solidFill>
                  <a:srgbClr val="2B2B2B"/>
                </a:solidFill>
                <a:latin typeface="Fira Code Bold"/>
                <a:ea typeface="Fira Code Bold"/>
                <a:cs typeface="Fira Code Bold"/>
                <a:sym typeface="Fira Code Bold"/>
              </a:rPr>
              <a:t>10.000</a:t>
            </a:r>
          </a:p>
        </p:txBody>
      </p:sp>
      <p:sp>
        <p:nvSpPr>
          <p:cNvPr name="TextBox 41" id="41"/>
          <p:cNvSpPr txBox="true"/>
          <p:nvPr/>
        </p:nvSpPr>
        <p:spPr>
          <a:xfrm rot="0">
            <a:off x="15137623" y="1434013"/>
            <a:ext cx="2046367" cy="190500"/>
          </a:xfrm>
          <a:prstGeom prst="rect">
            <a:avLst/>
          </a:prstGeom>
        </p:spPr>
        <p:txBody>
          <a:bodyPr anchor="t" rtlCol="false" tIns="0" lIns="0" bIns="0" rIns="0">
            <a:spAutoFit/>
          </a:bodyPr>
          <a:lstStyle/>
          <a:p>
            <a:pPr algn="ctr">
              <a:lnSpc>
                <a:spcPts val="1439"/>
              </a:lnSpc>
            </a:pPr>
            <a:r>
              <a:rPr lang="en-US" sz="1200" b="true">
                <a:solidFill>
                  <a:srgbClr val="2B2B2B"/>
                </a:solidFill>
                <a:latin typeface="Fira Code Bold"/>
                <a:ea typeface="Fira Code Bold"/>
                <a:cs typeface="Fira Code Bold"/>
                <a:sym typeface="Fira Code Bold"/>
              </a:rPr>
              <a:t>Data Per Kelas</a:t>
            </a:r>
          </a:p>
        </p:txBody>
      </p:sp>
      <p:sp>
        <p:nvSpPr>
          <p:cNvPr name="TextBox 42" id="42"/>
          <p:cNvSpPr txBox="true"/>
          <p:nvPr/>
        </p:nvSpPr>
        <p:spPr>
          <a:xfrm rot="0">
            <a:off x="10316535" y="4109708"/>
            <a:ext cx="6634891" cy="4191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Dataset didapatkan dari platform Kaggle dengan judul </a:t>
            </a:r>
            <a:r>
              <a:rPr lang="en-US" sz="1400" b="true">
                <a:solidFill>
                  <a:srgbClr val="2B2B2B"/>
                </a:solidFill>
                <a:latin typeface="Fira Code Bold"/>
                <a:ea typeface="Fira Code Bold"/>
                <a:cs typeface="Fira Code Bold"/>
                <a:sym typeface="Fira Code Bold"/>
              </a:rPr>
              <a:t>Alzheimer MRI Dataset </a:t>
            </a:r>
            <a:r>
              <a:rPr lang="en-US" sz="1400">
                <a:solidFill>
                  <a:srgbClr val="2B2B2B"/>
                </a:solidFill>
                <a:latin typeface="Fira Code"/>
                <a:ea typeface="Fira Code"/>
                <a:cs typeface="Fira Code"/>
                <a:sym typeface="Fira Code"/>
              </a:rPr>
              <a:t>(Rahman, 2025)</a:t>
            </a:r>
          </a:p>
        </p:txBody>
      </p:sp>
      <p:sp>
        <p:nvSpPr>
          <p:cNvPr name="TextBox 43" id="43"/>
          <p:cNvSpPr txBox="true"/>
          <p:nvPr/>
        </p:nvSpPr>
        <p:spPr>
          <a:xfrm rot="0">
            <a:off x="10316535" y="3748760"/>
            <a:ext cx="6634891"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SOURCE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sp>
        <p:nvSpPr>
          <p:cNvPr name="TextBox 2" id="2"/>
          <p:cNvSpPr txBox="true"/>
          <p:nvPr/>
        </p:nvSpPr>
        <p:spPr>
          <a:xfrm rot="0">
            <a:off x="1028700" y="989592"/>
            <a:ext cx="5496653" cy="2166000"/>
          </a:xfrm>
          <a:prstGeom prst="rect">
            <a:avLst/>
          </a:prstGeom>
        </p:spPr>
        <p:txBody>
          <a:bodyPr anchor="t" rtlCol="false" tIns="0" lIns="0" bIns="0" rIns="0">
            <a:spAutoFit/>
          </a:bodyPr>
          <a:lstStyle/>
          <a:p>
            <a:pPr algn="l">
              <a:lnSpc>
                <a:spcPts val="5280"/>
              </a:lnSpc>
            </a:pPr>
            <a:r>
              <a:rPr lang="en-US" sz="8800" spc="-176">
                <a:solidFill>
                  <a:srgbClr val="2B2B2B"/>
                </a:solidFill>
                <a:latin typeface="RQND Pro Condensed"/>
                <a:ea typeface="RQND Pro Condensed"/>
                <a:cs typeface="RQND Pro Condensed"/>
                <a:sym typeface="RQND Pro Condensed"/>
              </a:rPr>
              <a:t>PIPELINE PREPROCESSING MORFOLOGI</a:t>
            </a:r>
          </a:p>
        </p:txBody>
      </p:sp>
      <p:sp>
        <p:nvSpPr>
          <p:cNvPr name="Freeform 3" id="3"/>
          <p:cNvSpPr/>
          <p:nvPr/>
        </p:nvSpPr>
        <p:spPr>
          <a:xfrm flipH="true" flipV="true" rot="0">
            <a:off x="4187641" y="484767"/>
            <a:ext cx="252007" cy="195649"/>
          </a:xfrm>
          <a:custGeom>
            <a:avLst/>
            <a:gdLst/>
            <a:ahLst/>
            <a:cxnLst/>
            <a:rect r="r" b="b" t="t" l="l"/>
            <a:pathLst>
              <a:path h="195649" w="252007">
                <a:moveTo>
                  <a:pt x="252008" y="195649"/>
                </a:moveTo>
                <a:lnTo>
                  <a:pt x="0" y="195649"/>
                </a:lnTo>
                <a:lnTo>
                  <a:pt x="0" y="0"/>
                </a:lnTo>
                <a:lnTo>
                  <a:pt x="252008" y="0"/>
                </a:lnTo>
                <a:lnTo>
                  <a:pt x="252008" y="195649"/>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665351" y="484767"/>
            <a:ext cx="3410949" cy="2213261"/>
            <a:chOff x="0" y="0"/>
            <a:chExt cx="898357" cy="582916"/>
          </a:xfrm>
        </p:grpSpPr>
        <p:sp>
          <p:nvSpPr>
            <p:cNvPr name="Freeform 5" id="5"/>
            <p:cNvSpPr/>
            <p:nvPr/>
          </p:nvSpPr>
          <p:spPr>
            <a:xfrm flipH="false" flipV="false" rot="0">
              <a:off x="0" y="0"/>
              <a:ext cx="898357" cy="582916"/>
            </a:xfrm>
            <a:custGeom>
              <a:avLst/>
              <a:gdLst/>
              <a:ahLst/>
              <a:cxnLst/>
              <a:rect r="r" b="b" t="t" l="l"/>
              <a:pathLst>
                <a:path h="582916" w="898357">
                  <a:moveTo>
                    <a:pt x="0" y="0"/>
                  </a:moveTo>
                  <a:lnTo>
                    <a:pt x="898357" y="0"/>
                  </a:lnTo>
                  <a:lnTo>
                    <a:pt x="898357" y="582916"/>
                  </a:lnTo>
                  <a:lnTo>
                    <a:pt x="0" y="582916"/>
                  </a:lnTo>
                  <a:close/>
                </a:path>
              </a:pathLst>
            </a:custGeom>
            <a:solidFill>
              <a:srgbClr val="E8E8E8"/>
            </a:solidFill>
            <a:ln w="9525" cap="sq">
              <a:solidFill>
                <a:srgbClr val="000000"/>
              </a:solidFill>
              <a:prstDash val="solid"/>
              <a:miter/>
            </a:ln>
          </p:spPr>
        </p:sp>
        <p:sp>
          <p:nvSpPr>
            <p:cNvPr name="TextBox 6" id="6"/>
            <p:cNvSpPr txBox="true"/>
            <p:nvPr/>
          </p:nvSpPr>
          <p:spPr>
            <a:xfrm>
              <a:off x="0" y="28575"/>
              <a:ext cx="898357" cy="554341"/>
            </a:xfrm>
            <a:prstGeom prst="rect">
              <a:avLst/>
            </a:prstGeom>
          </p:spPr>
          <p:txBody>
            <a:bodyPr anchor="ctr" rtlCol="false" tIns="50800" lIns="50800" bIns="50800" rIns="50800"/>
            <a:lstStyle/>
            <a:p>
              <a:pPr algn="ctr">
                <a:lnSpc>
                  <a:spcPts val="1800"/>
                </a:lnSpc>
              </a:pPr>
            </a:p>
          </p:txBody>
        </p:sp>
      </p:grpSp>
      <p:grpSp>
        <p:nvGrpSpPr>
          <p:cNvPr name="Group 7" id="7"/>
          <p:cNvGrpSpPr/>
          <p:nvPr/>
        </p:nvGrpSpPr>
        <p:grpSpPr>
          <a:xfrm rot="0">
            <a:off x="14722305" y="0"/>
            <a:ext cx="3565695" cy="10287000"/>
            <a:chOff x="0" y="0"/>
            <a:chExt cx="939113" cy="2709333"/>
          </a:xfrm>
        </p:grpSpPr>
        <p:sp>
          <p:nvSpPr>
            <p:cNvPr name="Freeform 8" id="8"/>
            <p:cNvSpPr/>
            <p:nvPr/>
          </p:nvSpPr>
          <p:spPr>
            <a:xfrm flipH="false" flipV="false" rot="0">
              <a:off x="0" y="0"/>
              <a:ext cx="939113" cy="2709333"/>
            </a:xfrm>
            <a:custGeom>
              <a:avLst/>
              <a:gdLst/>
              <a:ahLst/>
              <a:cxnLst/>
              <a:rect r="r" b="b" t="t" l="l"/>
              <a:pathLst>
                <a:path h="2709333" w="939113">
                  <a:moveTo>
                    <a:pt x="0" y="0"/>
                  </a:moveTo>
                  <a:lnTo>
                    <a:pt x="939113" y="0"/>
                  </a:lnTo>
                  <a:lnTo>
                    <a:pt x="939113" y="2709333"/>
                  </a:lnTo>
                  <a:lnTo>
                    <a:pt x="0" y="2709333"/>
                  </a:lnTo>
                  <a:close/>
                </a:path>
              </a:pathLst>
            </a:custGeom>
            <a:solidFill>
              <a:srgbClr val="2B2B2B"/>
            </a:solidFill>
          </p:spPr>
        </p:sp>
        <p:sp>
          <p:nvSpPr>
            <p:cNvPr name="TextBox 9" id="9"/>
            <p:cNvSpPr txBox="true"/>
            <p:nvPr/>
          </p:nvSpPr>
          <p:spPr>
            <a:xfrm>
              <a:off x="0" y="28575"/>
              <a:ext cx="939113" cy="2680758"/>
            </a:xfrm>
            <a:prstGeom prst="rect">
              <a:avLst/>
            </a:prstGeom>
          </p:spPr>
          <p:txBody>
            <a:bodyPr anchor="ctr" rtlCol="false" tIns="50800" lIns="50800" bIns="50800" rIns="50800"/>
            <a:lstStyle/>
            <a:p>
              <a:pPr algn="ctr">
                <a:lnSpc>
                  <a:spcPts val="1800"/>
                </a:lnSpc>
              </a:pPr>
            </a:p>
          </p:txBody>
        </p:sp>
      </p:grpSp>
      <p:sp>
        <p:nvSpPr>
          <p:cNvPr name="Freeform 10" id="10"/>
          <p:cNvSpPr/>
          <p:nvPr/>
        </p:nvSpPr>
        <p:spPr>
          <a:xfrm flipH="false" flipV="false" rot="-806134">
            <a:off x="-339445" y="2689873"/>
            <a:ext cx="2736290" cy="2746590"/>
          </a:xfrm>
          <a:custGeom>
            <a:avLst/>
            <a:gdLst/>
            <a:ahLst/>
            <a:cxnLst/>
            <a:rect r="r" b="b" t="t" l="l"/>
            <a:pathLst>
              <a:path h="2746590" w="2736290">
                <a:moveTo>
                  <a:pt x="0" y="0"/>
                </a:moveTo>
                <a:lnTo>
                  <a:pt x="2736290" y="0"/>
                </a:lnTo>
                <a:lnTo>
                  <a:pt x="2736290" y="2746590"/>
                </a:lnTo>
                <a:lnTo>
                  <a:pt x="0" y="2746590"/>
                </a:lnTo>
                <a:lnTo>
                  <a:pt x="0" y="0"/>
                </a:lnTo>
                <a:close/>
              </a:path>
            </a:pathLst>
          </a:custGeom>
          <a:blipFill>
            <a:blip r:embed="rId4"/>
            <a:stretch>
              <a:fillRect l="0" t="0" r="0" b="0"/>
            </a:stretch>
          </a:blipFill>
        </p:spPr>
      </p:sp>
      <p:sp>
        <p:nvSpPr>
          <p:cNvPr name="Freeform 11" id="11"/>
          <p:cNvSpPr/>
          <p:nvPr/>
        </p:nvSpPr>
        <p:spPr>
          <a:xfrm flipH="false" flipV="false" rot="0">
            <a:off x="13928405" y="5393995"/>
            <a:ext cx="5691567" cy="6263072"/>
          </a:xfrm>
          <a:custGeom>
            <a:avLst/>
            <a:gdLst/>
            <a:ahLst/>
            <a:cxnLst/>
            <a:rect r="r" b="b" t="t" l="l"/>
            <a:pathLst>
              <a:path h="6263072" w="5691567">
                <a:moveTo>
                  <a:pt x="0" y="0"/>
                </a:moveTo>
                <a:lnTo>
                  <a:pt x="5691567" y="0"/>
                </a:lnTo>
                <a:lnTo>
                  <a:pt x="5691567" y="6263072"/>
                </a:lnTo>
                <a:lnTo>
                  <a:pt x="0" y="6263072"/>
                </a:lnTo>
                <a:lnTo>
                  <a:pt x="0" y="0"/>
                </a:lnTo>
                <a:close/>
              </a:path>
            </a:pathLst>
          </a:custGeom>
          <a:blipFill>
            <a:blip r:embed="rId5"/>
            <a:stretch>
              <a:fillRect l="0" t="0" r="0" b="0"/>
            </a:stretch>
          </a:blipFill>
        </p:spPr>
      </p:sp>
      <p:sp>
        <p:nvSpPr>
          <p:cNvPr name="Freeform 12" id="12"/>
          <p:cNvSpPr/>
          <p:nvPr/>
        </p:nvSpPr>
        <p:spPr>
          <a:xfrm flipH="false" flipV="false" rot="0">
            <a:off x="6795301" y="5432975"/>
            <a:ext cx="1952689" cy="1798915"/>
          </a:xfrm>
          <a:custGeom>
            <a:avLst/>
            <a:gdLst/>
            <a:ahLst/>
            <a:cxnLst/>
            <a:rect r="r" b="b" t="t" l="l"/>
            <a:pathLst>
              <a:path h="1798915" w="1952689">
                <a:moveTo>
                  <a:pt x="0" y="0"/>
                </a:moveTo>
                <a:lnTo>
                  <a:pt x="1952690" y="0"/>
                </a:lnTo>
                <a:lnTo>
                  <a:pt x="1952690" y="1798915"/>
                </a:lnTo>
                <a:lnTo>
                  <a:pt x="0" y="1798915"/>
                </a:lnTo>
                <a:lnTo>
                  <a:pt x="0" y="0"/>
                </a:lnTo>
                <a:close/>
              </a:path>
            </a:pathLst>
          </a:custGeom>
          <a:blipFill>
            <a:blip r:embed="rId6"/>
            <a:stretch>
              <a:fillRect l="0" t="0" r="0" b="0"/>
            </a:stretch>
          </a:blipFill>
        </p:spPr>
      </p:sp>
      <p:sp>
        <p:nvSpPr>
          <p:cNvPr name="TextBox 13" id="13"/>
          <p:cNvSpPr txBox="true"/>
          <p:nvPr/>
        </p:nvSpPr>
        <p:spPr>
          <a:xfrm rot="0">
            <a:off x="830319" y="541917"/>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14" id="14"/>
          <p:cNvSpPr txBox="true"/>
          <p:nvPr/>
        </p:nvSpPr>
        <p:spPr>
          <a:xfrm rot="0">
            <a:off x="10951796" y="725338"/>
            <a:ext cx="2838060" cy="1666875"/>
          </a:xfrm>
          <a:prstGeom prst="rect">
            <a:avLst/>
          </a:prstGeom>
        </p:spPr>
        <p:txBody>
          <a:bodyPr anchor="t" rtlCol="false" tIns="0" lIns="0" bIns="0" rIns="0">
            <a:spAutoFit/>
          </a:bodyPr>
          <a:lstStyle/>
          <a:p>
            <a:pPr algn="l">
              <a:lnSpc>
                <a:spcPts val="1919"/>
              </a:lnSpc>
            </a:pPr>
            <a:r>
              <a:rPr lang="en-US" sz="1599">
                <a:solidFill>
                  <a:srgbClr val="2B2B2B"/>
                </a:solidFill>
                <a:latin typeface="Fira Code"/>
                <a:ea typeface="Fira Code"/>
                <a:cs typeface="Fira Code"/>
                <a:sym typeface="Fira Code"/>
              </a:rPr>
              <a:t>PREPROCESSING DILAKUKAN UNTUK MEMPERJELAS STRUKTUR OTAK, MENGURANGI NOISE, DAN MENONJOLKAN AREA PENTING SEBELUM CITRA DI PROSES OLEH MODEL</a:t>
            </a:r>
          </a:p>
        </p:txBody>
      </p:sp>
      <p:sp>
        <p:nvSpPr>
          <p:cNvPr name="TextBox 15" id="15"/>
          <p:cNvSpPr txBox="true"/>
          <p:nvPr/>
        </p:nvSpPr>
        <p:spPr>
          <a:xfrm rot="0">
            <a:off x="3744901" y="3844846"/>
            <a:ext cx="3410949" cy="6286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Konversi BGR ke Grayscaldengan cv2.COLOR_BGR2GRAY. bertujuan mengurangi kompleksitas data</a:t>
            </a:r>
          </a:p>
        </p:txBody>
      </p:sp>
      <p:sp>
        <p:nvSpPr>
          <p:cNvPr name="TextBox 16" id="16"/>
          <p:cNvSpPr txBox="true"/>
          <p:nvPr/>
        </p:nvSpPr>
        <p:spPr>
          <a:xfrm rot="0">
            <a:off x="5659085" y="4953920"/>
            <a:ext cx="2012532" cy="323574"/>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GRAYSCALE</a:t>
            </a:r>
          </a:p>
        </p:txBody>
      </p:sp>
      <p:sp>
        <p:nvSpPr>
          <p:cNvPr name="TextBox 17" id="17"/>
          <p:cNvSpPr txBox="true"/>
          <p:nvPr/>
        </p:nvSpPr>
        <p:spPr>
          <a:xfrm rot="0">
            <a:off x="8788627" y="4953920"/>
            <a:ext cx="1415446" cy="323574"/>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CLAHE</a:t>
            </a:r>
          </a:p>
        </p:txBody>
      </p:sp>
      <p:sp>
        <p:nvSpPr>
          <p:cNvPr name="TextBox 18" id="18"/>
          <p:cNvSpPr txBox="true"/>
          <p:nvPr/>
        </p:nvSpPr>
        <p:spPr>
          <a:xfrm rot="0">
            <a:off x="8385728" y="7406223"/>
            <a:ext cx="2145872" cy="637623"/>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OTSU </a:t>
            </a:r>
          </a:p>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THRESHOLDING</a:t>
            </a:r>
          </a:p>
        </p:txBody>
      </p:sp>
      <p:sp>
        <p:nvSpPr>
          <p:cNvPr name="TextBox 19" id="19"/>
          <p:cNvSpPr txBox="true"/>
          <p:nvPr/>
        </p:nvSpPr>
        <p:spPr>
          <a:xfrm rot="0">
            <a:off x="5108787" y="6090511"/>
            <a:ext cx="1437429" cy="637623"/>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MORP. </a:t>
            </a:r>
          </a:p>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GRADIENT</a:t>
            </a:r>
          </a:p>
        </p:txBody>
      </p:sp>
      <p:sp>
        <p:nvSpPr>
          <p:cNvPr name="TextBox 20" id="20"/>
          <p:cNvSpPr txBox="true"/>
          <p:nvPr/>
        </p:nvSpPr>
        <p:spPr>
          <a:xfrm rot="0">
            <a:off x="8997076" y="6322907"/>
            <a:ext cx="2246630" cy="323574"/>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GAUSSIAN BLUR</a:t>
            </a:r>
          </a:p>
        </p:txBody>
      </p:sp>
      <p:sp>
        <p:nvSpPr>
          <p:cNvPr name="TextBox 21" id="21"/>
          <p:cNvSpPr txBox="true"/>
          <p:nvPr/>
        </p:nvSpPr>
        <p:spPr>
          <a:xfrm rot="0">
            <a:off x="5975228" y="7466987"/>
            <a:ext cx="1380246" cy="637623"/>
          </a:xfrm>
          <a:prstGeom prst="rect">
            <a:avLst/>
          </a:prstGeom>
        </p:spPr>
        <p:txBody>
          <a:bodyPr anchor="t" rtlCol="false" tIns="0" lIns="0" bIns="0" rIns="0">
            <a:spAutoFit/>
          </a:bodyPr>
          <a:lstStyle/>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MORPH. </a:t>
            </a:r>
          </a:p>
          <a:p>
            <a:pPr algn="l" marL="0" indent="0" lvl="0">
              <a:lnSpc>
                <a:spcPts val="2532"/>
              </a:lnSpc>
              <a:spcBef>
                <a:spcPct val="0"/>
              </a:spcBef>
            </a:pPr>
            <a:r>
              <a:rPr lang="en-US" b="true" sz="2110" strike="noStrike" u="none">
                <a:solidFill>
                  <a:srgbClr val="000000"/>
                </a:solidFill>
                <a:latin typeface="Fira Code Bold"/>
                <a:ea typeface="Fira Code Bold"/>
                <a:cs typeface="Fira Code Bold"/>
                <a:sym typeface="Fira Code Bold"/>
              </a:rPr>
              <a:t>OPENING</a:t>
            </a:r>
          </a:p>
        </p:txBody>
      </p:sp>
      <p:sp>
        <p:nvSpPr>
          <p:cNvPr name="TextBox 22" id="22"/>
          <p:cNvSpPr txBox="true"/>
          <p:nvPr/>
        </p:nvSpPr>
        <p:spPr>
          <a:xfrm rot="0">
            <a:off x="8959877" y="3844846"/>
            <a:ext cx="3410949" cy="6286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Menggunakan clipLimit = 2.0 dan</a:t>
            </a:r>
          </a:p>
          <a:p>
            <a:pPr algn="l">
              <a:lnSpc>
                <a:spcPts val="1680"/>
              </a:lnSpc>
            </a:pPr>
            <a:r>
              <a:rPr lang="en-US" sz="1400">
                <a:solidFill>
                  <a:srgbClr val="2B2B2B"/>
                </a:solidFill>
                <a:latin typeface="Fira Code"/>
                <a:ea typeface="Fira Code"/>
                <a:cs typeface="Fira Code"/>
                <a:sym typeface="Fira Code"/>
              </a:rPr>
              <a:t>tileGridSize = (8,8). Bertujuan memperjelas area tumor </a:t>
            </a:r>
          </a:p>
        </p:txBody>
      </p:sp>
      <p:sp>
        <p:nvSpPr>
          <p:cNvPr name="TextBox 23" id="23"/>
          <p:cNvSpPr txBox="true"/>
          <p:nvPr/>
        </p:nvSpPr>
        <p:spPr>
          <a:xfrm rot="0">
            <a:off x="11810904" y="6012627"/>
            <a:ext cx="2911401" cy="6286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Menggunakan kernel 5x5. Mengurangi noise frekuensi tinggi</a:t>
            </a:r>
          </a:p>
        </p:txBody>
      </p:sp>
      <p:sp>
        <p:nvSpPr>
          <p:cNvPr name="TextBox 24" id="24"/>
          <p:cNvSpPr txBox="true"/>
          <p:nvPr/>
        </p:nvSpPr>
        <p:spPr>
          <a:xfrm rot="0">
            <a:off x="1028700" y="6105080"/>
            <a:ext cx="3410949" cy="8382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Menggunakan metode cv2.MORPH_GRADIENT yang bertujuan menonjolkan batas atau kontur otak</a:t>
            </a:r>
          </a:p>
        </p:txBody>
      </p:sp>
      <p:sp>
        <p:nvSpPr>
          <p:cNvPr name="TextBox 25" id="25"/>
          <p:cNvSpPr txBox="true"/>
          <p:nvPr/>
        </p:nvSpPr>
        <p:spPr>
          <a:xfrm rot="0">
            <a:off x="3744901" y="8525531"/>
            <a:ext cx="3410949" cy="8382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Tahapannya dari Erosi ke Dilatasi. Bertujuan untuk menghilangkan noise kecil dan piksel yang tidak relevan</a:t>
            </a:r>
          </a:p>
        </p:txBody>
      </p:sp>
      <p:sp>
        <p:nvSpPr>
          <p:cNvPr name="TextBox 26" id="26"/>
          <p:cNvSpPr txBox="true"/>
          <p:nvPr/>
        </p:nvSpPr>
        <p:spPr>
          <a:xfrm rot="0">
            <a:off x="8820591" y="8525531"/>
            <a:ext cx="3410949" cy="83820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Dengan metode cv.THRESH_BINARY + CV2.THRESH_OTSU. Bertujuan mengubah citra grayscale ke citra biner secara otomatis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9110912" y="5836029"/>
            <a:ext cx="8148388" cy="3412759"/>
            <a:chOff x="0" y="0"/>
            <a:chExt cx="2146078" cy="898834"/>
          </a:xfrm>
        </p:grpSpPr>
        <p:sp>
          <p:nvSpPr>
            <p:cNvPr name="Freeform 3" id="3"/>
            <p:cNvSpPr/>
            <p:nvPr/>
          </p:nvSpPr>
          <p:spPr>
            <a:xfrm flipH="false" flipV="false" rot="0">
              <a:off x="0" y="0"/>
              <a:ext cx="2146078" cy="898834"/>
            </a:xfrm>
            <a:custGeom>
              <a:avLst/>
              <a:gdLst/>
              <a:ahLst/>
              <a:cxnLst/>
              <a:rect r="r" b="b" t="t" l="l"/>
              <a:pathLst>
                <a:path h="898834" w="2146078">
                  <a:moveTo>
                    <a:pt x="0" y="0"/>
                  </a:moveTo>
                  <a:lnTo>
                    <a:pt x="2146078" y="0"/>
                  </a:lnTo>
                  <a:lnTo>
                    <a:pt x="2146078" y="898834"/>
                  </a:lnTo>
                  <a:lnTo>
                    <a:pt x="0" y="898834"/>
                  </a:lnTo>
                  <a:close/>
                </a:path>
              </a:pathLst>
            </a:custGeom>
            <a:solidFill>
              <a:srgbClr val="E8E8E8"/>
            </a:solidFill>
            <a:ln w="9525" cap="sq">
              <a:solidFill>
                <a:srgbClr val="000000"/>
              </a:solidFill>
              <a:prstDash val="solid"/>
              <a:miter/>
            </a:ln>
          </p:spPr>
        </p:sp>
        <p:sp>
          <p:nvSpPr>
            <p:cNvPr name="TextBox 4" id="4"/>
            <p:cNvSpPr txBox="true"/>
            <p:nvPr/>
          </p:nvSpPr>
          <p:spPr>
            <a:xfrm>
              <a:off x="0" y="28575"/>
              <a:ext cx="2146078" cy="870259"/>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0" y="0"/>
            <a:ext cx="18288000" cy="4829096"/>
            <a:chOff x="0" y="0"/>
            <a:chExt cx="4816593" cy="1271861"/>
          </a:xfrm>
        </p:grpSpPr>
        <p:sp>
          <p:nvSpPr>
            <p:cNvPr name="Freeform 6" id="6"/>
            <p:cNvSpPr/>
            <p:nvPr/>
          </p:nvSpPr>
          <p:spPr>
            <a:xfrm flipH="false" flipV="false" rot="0">
              <a:off x="0" y="0"/>
              <a:ext cx="4816592" cy="1271861"/>
            </a:xfrm>
            <a:custGeom>
              <a:avLst/>
              <a:gdLst/>
              <a:ahLst/>
              <a:cxnLst/>
              <a:rect r="r" b="b" t="t" l="l"/>
              <a:pathLst>
                <a:path h="1271861" w="4816592">
                  <a:moveTo>
                    <a:pt x="0" y="0"/>
                  </a:moveTo>
                  <a:lnTo>
                    <a:pt x="4816592" y="0"/>
                  </a:lnTo>
                  <a:lnTo>
                    <a:pt x="4816592" y="1271861"/>
                  </a:lnTo>
                  <a:lnTo>
                    <a:pt x="0" y="1271861"/>
                  </a:lnTo>
                  <a:close/>
                </a:path>
              </a:pathLst>
            </a:custGeom>
            <a:solidFill>
              <a:srgbClr val="2B2B2B"/>
            </a:solidFill>
          </p:spPr>
        </p:sp>
        <p:sp>
          <p:nvSpPr>
            <p:cNvPr name="TextBox 7" id="7"/>
            <p:cNvSpPr txBox="true"/>
            <p:nvPr/>
          </p:nvSpPr>
          <p:spPr>
            <a:xfrm>
              <a:off x="0" y="28575"/>
              <a:ext cx="4816593" cy="1243286"/>
            </a:xfrm>
            <a:prstGeom prst="rect">
              <a:avLst/>
            </a:prstGeom>
          </p:spPr>
          <p:txBody>
            <a:bodyPr anchor="ctr" rtlCol="false" tIns="50800" lIns="50800" bIns="50800" rIns="50800"/>
            <a:lstStyle/>
            <a:p>
              <a:pPr algn="ctr">
                <a:lnSpc>
                  <a:spcPts val="1800"/>
                </a:lnSpc>
              </a:pPr>
            </a:p>
          </p:txBody>
        </p:sp>
      </p:grpSp>
      <p:sp>
        <p:nvSpPr>
          <p:cNvPr name="Freeform 8" id="8"/>
          <p:cNvSpPr/>
          <p:nvPr/>
        </p:nvSpPr>
        <p:spPr>
          <a:xfrm flipH="false" flipV="false" rot="0">
            <a:off x="1028700" y="3604747"/>
            <a:ext cx="252007" cy="195649"/>
          </a:xfrm>
          <a:custGeom>
            <a:avLst/>
            <a:gdLst/>
            <a:ahLst/>
            <a:cxnLst/>
            <a:rect r="r" b="b" t="t" l="l"/>
            <a:pathLst>
              <a:path h="195649" w="252007">
                <a:moveTo>
                  <a:pt x="0" y="0"/>
                </a:moveTo>
                <a:lnTo>
                  <a:pt x="252007" y="0"/>
                </a:lnTo>
                <a:lnTo>
                  <a:pt x="252007" y="195649"/>
                </a:lnTo>
                <a:lnTo>
                  <a:pt x="0" y="195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8942" y="0"/>
            <a:ext cx="8269597" cy="10287000"/>
            <a:chOff x="0" y="0"/>
            <a:chExt cx="829032" cy="1031278"/>
          </a:xfrm>
        </p:grpSpPr>
        <p:sp>
          <p:nvSpPr>
            <p:cNvPr name="Freeform 10" id="10"/>
            <p:cNvSpPr/>
            <p:nvPr/>
          </p:nvSpPr>
          <p:spPr>
            <a:xfrm flipH="false" flipV="false" rot="0">
              <a:off x="0" y="0"/>
              <a:ext cx="829032" cy="1031278"/>
            </a:xfrm>
            <a:custGeom>
              <a:avLst/>
              <a:gdLst/>
              <a:ahLst/>
              <a:cxnLst/>
              <a:rect r="r" b="b" t="t" l="l"/>
              <a:pathLst>
                <a:path h="1031278" w="829032">
                  <a:moveTo>
                    <a:pt x="0" y="0"/>
                  </a:moveTo>
                  <a:lnTo>
                    <a:pt x="829032" y="0"/>
                  </a:lnTo>
                  <a:lnTo>
                    <a:pt x="829032" y="1031278"/>
                  </a:lnTo>
                  <a:lnTo>
                    <a:pt x="0" y="1031278"/>
                  </a:lnTo>
                  <a:close/>
                </a:path>
              </a:pathLst>
            </a:custGeom>
            <a:blipFill>
              <a:blip r:embed="rId4"/>
              <a:stretch>
                <a:fillRect l="0" t="-243" r="0" b="-243"/>
              </a:stretch>
            </a:blipFill>
          </p:spPr>
        </p:sp>
      </p:grpSp>
      <p:sp>
        <p:nvSpPr>
          <p:cNvPr name="Freeform 11" id="11"/>
          <p:cNvSpPr/>
          <p:nvPr/>
        </p:nvSpPr>
        <p:spPr>
          <a:xfrm flipH="false" flipV="false" rot="-3602959">
            <a:off x="15003216" y="4316380"/>
            <a:ext cx="4512167" cy="4965246"/>
          </a:xfrm>
          <a:custGeom>
            <a:avLst/>
            <a:gdLst/>
            <a:ahLst/>
            <a:cxnLst/>
            <a:rect r="r" b="b" t="t" l="l"/>
            <a:pathLst>
              <a:path h="4965246" w="4512167">
                <a:moveTo>
                  <a:pt x="0" y="0"/>
                </a:moveTo>
                <a:lnTo>
                  <a:pt x="4512168" y="0"/>
                </a:lnTo>
                <a:lnTo>
                  <a:pt x="4512168" y="4965246"/>
                </a:lnTo>
                <a:lnTo>
                  <a:pt x="0" y="4965246"/>
                </a:lnTo>
                <a:lnTo>
                  <a:pt x="0" y="0"/>
                </a:lnTo>
                <a:close/>
              </a:path>
            </a:pathLst>
          </a:custGeom>
          <a:blipFill>
            <a:blip r:embed="rId5"/>
            <a:stretch>
              <a:fillRect l="0" t="0" r="0" b="0"/>
            </a:stretch>
          </a:blipFill>
        </p:spPr>
      </p:sp>
      <p:sp>
        <p:nvSpPr>
          <p:cNvPr name="TextBox 12" id="12"/>
          <p:cNvSpPr txBox="true"/>
          <p:nvPr/>
        </p:nvSpPr>
        <p:spPr>
          <a:xfrm rot="0">
            <a:off x="8622118" y="1557298"/>
            <a:ext cx="9377925" cy="2571750"/>
          </a:xfrm>
          <a:prstGeom prst="rect">
            <a:avLst/>
          </a:prstGeom>
        </p:spPr>
        <p:txBody>
          <a:bodyPr anchor="t" rtlCol="false" tIns="0" lIns="0" bIns="0" rIns="0">
            <a:spAutoFit/>
          </a:bodyPr>
          <a:lstStyle/>
          <a:p>
            <a:pPr algn="l">
              <a:lnSpc>
                <a:spcPts val="9000"/>
              </a:lnSpc>
            </a:pPr>
            <a:r>
              <a:rPr lang="en-US" sz="15000" spc="-300">
                <a:solidFill>
                  <a:srgbClr val="E8E8E8"/>
                </a:solidFill>
                <a:latin typeface="RQND Pro Condensed"/>
                <a:ea typeface="RQND Pro Condensed"/>
                <a:cs typeface="RQND Pro Condensed"/>
                <a:sym typeface="RQND Pro Condensed"/>
              </a:rPr>
              <a:t>VISUALISASI PREPROCESSING</a:t>
            </a:r>
          </a:p>
        </p:txBody>
      </p:sp>
      <p:sp>
        <p:nvSpPr>
          <p:cNvPr name="Freeform 13" id="13"/>
          <p:cNvSpPr/>
          <p:nvPr/>
        </p:nvSpPr>
        <p:spPr>
          <a:xfrm flipH="false" flipV="false" rot="-806134">
            <a:off x="16963794" y="232328"/>
            <a:ext cx="2267939" cy="2276476"/>
          </a:xfrm>
          <a:custGeom>
            <a:avLst/>
            <a:gdLst/>
            <a:ahLst/>
            <a:cxnLst/>
            <a:rect r="r" b="b" t="t" l="l"/>
            <a:pathLst>
              <a:path h="2276476" w="2267939">
                <a:moveTo>
                  <a:pt x="0" y="0"/>
                </a:moveTo>
                <a:lnTo>
                  <a:pt x="2267939" y="0"/>
                </a:lnTo>
                <a:lnTo>
                  <a:pt x="2267939" y="2276476"/>
                </a:lnTo>
                <a:lnTo>
                  <a:pt x="0" y="2276476"/>
                </a:lnTo>
                <a:lnTo>
                  <a:pt x="0" y="0"/>
                </a:lnTo>
                <a:close/>
              </a:path>
            </a:pathLst>
          </a:custGeom>
          <a:blipFill>
            <a:blip r:embed="rId6"/>
            <a:stretch>
              <a:fillRect l="0" t="0" r="0" b="0"/>
            </a:stretch>
          </a:blipFill>
        </p:spPr>
      </p:sp>
      <p:sp>
        <p:nvSpPr>
          <p:cNvPr name="Freeform 14" id="14"/>
          <p:cNvSpPr/>
          <p:nvPr/>
        </p:nvSpPr>
        <p:spPr>
          <a:xfrm flipH="true" flipV="false" rot="0">
            <a:off x="16336515" y="8499102"/>
            <a:ext cx="252007" cy="195649"/>
          </a:xfrm>
          <a:custGeom>
            <a:avLst/>
            <a:gdLst/>
            <a:ahLst/>
            <a:cxnLst/>
            <a:rect r="r" b="b" t="t" l="l"/>
            <a:pathLst>
              <a:path h="195649" w="252007">
                <a:moveTo>
                  <a:pt x="252008" y="0"/>
                </a:moveTo>
                <a:lnTo>
                  <a:pt x="0" y="0"/>
                </a:lnTo>
                <a:lnTo>
                  <a:pt x="0" y="195650"/>
                </a:lnTo>
                <a:lnTo>
                  <a:pt x="252008" y="195650"/>
                </a:lnTo>
                <a:lnTo>
                  <a:pt x="25200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0428207" y="6559277"/>
            <a:ext cx="3824541" cy="1885950"/>
          </a:xfrm>
          <a:prstGeom prst="rect">
            <a:avLst/>
          </a:prstGeom>
        </p:spPr>
        <p:txBody>
          <a:bodyPr anchor="t" rtlCol="false" tIns="0" lIns="0" bIns="0" rIns="0">
            <a:spAutoFit/>
          </a:bodyPr>
          <a:lstStyle/>
          <a:p>
            <a:pPr algn="l">
              <a:lnSpc>
                <a:spcPts val="1680"/>
              </a:lnSpc>
            </a:pPr>
            <a:r>
              <a:rPr lang="en-US" sz="1400">
                <a:solidFill>
                  <a:srgbClr val="2B2B2B"/>
                </a:solidFill>
                <a:latin typeface="Fira Code"/>
                <a:ea typeface="Fira Code"/>
                <a:cs typeface="Fira Code"/>
                <a:sym typeface="Fira Code"/>
              </a:rPr>
              <a:t>Pada gambar ini terlihat perbandingan antara citra MRI asli, citra grayscale, dan hasil preprocessing morfologi. Setelah preprocessing, batas jaringan otak menjadi lebih jelas dan kontras citra meningkat, sehingga fitur-fitur penting lebih mudah dikenali oleh model klasifikasi.</a:t>
            </a:r>
          </a:p>
        </p:txBody>
      </p:sp>
      <p:sp>
        <p:nvSpPr>
          <p:cNvPr name="TextBox 16" id="16"/>
          <p:cNvSpPr txBox="true"/>
          <p:nvPr/>
        </p:nvSpPr>
        <p:spPr>
          <a:xfrm rot="0">
            <a:off x="1028700" y="1085850"/>
            <a:ext cx="1935981" cy="183421"/>
          </a:xfrm>
          <a:prstGeom prst="rect">
            <a:avLst/>
          </a:prstGeom>
        </p:spPr>
        <p:txBody>
          <a:bodyPr anchor="t" rtlCol="false" tIns="0" lIns="0" bIns="0" rIns="0">
            <a:spAutoFit/>
          </a:bodyPr>
          <a:lstStyle/>
          <a:p>
            <a:pPr algn="l">
              <a:lnSpc>
                <a:spcPts val="1376"/>
              </a:lnSpc>
            </a:pPr>
            <a:r>
              <a:rPr lang="en-US" b="true" sz="1600" spc="-48">
                <a:solidFill>
                  <a:srgbClr val="E8E8E8"/>
                </a:solidFill>
                <a:latin typeface="Fira Code Bold"/>
                <a:ea typeface="Fira Code Bold"/>
                <a:cs typeface="Fira Code Bold"/>
                <a:sym typeface="Fira Code Bold"/>
              </a:rPr>
              <a:t>SALFORD &amp; CO.</a:t>
            </a:r>
          </a:p>
        </p:txBody>
      </p:sp>
      <p:sp>
        <p:nvSpPr>
          <p:cNvPr name="TextBox 17" id="17"/>
          <p:cNvSpPr txBox="true"/>
          <p:nvPr/>
        </p:nvSpPr>
        <p:spPr>
          <a:xfrm rot="0">
            <a:off x="8308540" y="454682"/>
            <a:ext cx="7322121" cy="361983"/>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AI + ARTIST = THE NEW STANDARD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sp>
        <p:nvSpPr>
          <p:cNvPr name="TextBox 2" id="2"/>
          <p:cNvSpPr txBox="true"/>
          <p:nvPr/>
        </p:nvSpPr>
        <p:spPr>
          <a:xfrm rot="0">
            <a:off x="1028700" y="7676984"/>
            <a:ext cx="8115300" cy="1791772"/>
          </a:xfrm>
          <a:prstGeom prst="rect">
            <a:avLst/>
          </a:prstGeom>
        </p:spPr>
        <p:txBody>
          <a:bodyPr anchor="t" rtlCol="false" tIns="0" lIns="0" bIns="0" rIns="0">
            <a:spAutoFit/>
          </a:bodyPr>
          <a:lstStyle/>
          <a:p>
            <a:pPr algn="l">
              <a:lnSpc>
                <a:spcPts val="6342"/>
              </a:lnSpc>
            </a:pPr>
            <a:r>
              <a:rPr lang="en-US" sz="10230" spc="-204">
                <a:solidFill>
                  <a:srgbClr val="2B2B2B"/>
                </a:solidFill>
                <a:latin typeface="RQND Pro Condensed"/>
                <a:ea typeface="RQND Pro Condensed"/>
                <a:cs typeface="RQND Pro Condensed"/>
                <a:sym typeface="RQND Pro Condensed"/>
              </a:rPr>
              <a:t>EMPAT METODE KLASIFIKASI</a:t>
            </a:r>
          </a:p>
        </p:txBody>
      </p:sp>
      <p:grpSp>
        <p:nvGrpSpPr>
          <p:cNvPr name="Group 3" id="3"/>
          <p:cNvGrpSpPr/>
          <p:nvPr/>
        </p:nvGrpSpPr>
        <p:grpSpPr>
          <a:xfrm rot="0">
            <a:off x="9142189" y="995911"/>
            <a:ext cx="8117111" cy="5149759"/>
            <a:chOff x="0" y="0"/>
            <a:chExt cx="2137840" cy="1356315"/>
          </a:xfrm>
        </p:grpSpPr>
        <p:sp>
          <p:nvSpPr>
            <p:cNvPr name="Freeform 4" id="4"/>
            <p:cNvSpPr/>
            <p:nvPr/>
          </p:nvSpPr>
          <p:spPr>
            <a:xfrm flipH="false" flipV="false" rot="0">
              <a:off x="0" y="0"/>
              <a:ext cx="2137840" cy="1356315"/>
            </a:xfrm>
            <a:custGeom>
              <a:avLst/>
              <a:gdLst/>
              <a:ahLst/>
              <a:cxnLst/>
              <a:rect r="r" b="b" t="t" l="l"/>
              <a:pathLst>
                <a:path h="1356315" w="2137840">
                  <a:moveTo>
                    <a:pt x="0" y="0"/>
                  </a:moveTo>
                  <a:lnTo>
                    <a:pt x="2137840" y="0"/>
                  </a:lnTo>
                  <a:lnTo>
                    <a:pt x="2137840" y="1356315"/>
                  </a:lnTo>
                  <a:lnTo>
                    <a:pt x="0" y="1356315"/>
                  </a:lnTo>
                  <a:close/>
                </a:path>
              </a:pathLst>
            </a:custGeom>
            <a:solidFill>
              <a:srgbClr val="2B2B2B"/>
            </a:solidFill>
          </p:spPr>
        </p:sp>
        <p:sp>
          <p:nvSpPr>
            <p:cNvPr name="TextBox 5" id="5"/>
            <p:cNvSpPr txBox="true"/>
            <p:nvPr/>
          </p:nvSpPr>
          <p:spPr>
            <a:xfrm>
              <a:off x="0" y="28575"/>
              <a:ext cx="2137840" cy="1327740"/>
            </a:xfrm>
            <a:prstGeom prst="rect">
              <a:avLst/>
            </a:prstGeom>
          </p:spPr>
          <p:txBody>
            <a:bodyPr anchor="ctr" rtlCol="false" tIns="50800" lIns="50800" bIns="50800" rIns="50800"/>
            <a:lstStyle/>
            <a:p>
              <a:pPr algn="ctr">
                <a:lnSpc>
                  <a:spcPts val="1800"/>
                </a:lnSpc>
              </a:pPr>
            </a:p>
          </p:txBody>
        </p:sp>
      </p:grpSp>
      <p:grpSp>
        <p:nvGrpSpPr>
          <p:cNvPr name="Group 6" id="6"/>
          <p:cNvGrpSpPr/>
          <p:nvPr/>
        </p:nvGrpSpPr>
        <p:grpSpPr>
          <a:xfrm rot="0">
            <a:off x="9110912" y="6163441"/>
            <a:ext cx="8117111" cy="2997035"/>
            <a:chOff x="0" y="0"/>
            <a:chExt cx="1326312" cy="489707"/>
          </a:xfrm>
        </p:grpSpPr>
        <p:sp>
          <p:nvSpPr>
            <p:cNvPr name="Freeform 7" id="7"/>
            <p:cNvSpPr/>
            <p:nvPr/>
          </p:nvSpPr>
          <p:spPr>
            <a:xfrm flipH="false" flipV="false" rot="0">
              <a:off x="0" y="0"/>
              <a:ext cx="1326312" cy="489707"/>
            </a:xfrm>
            <a:custGeom>
              <a:avLst/>
              <a:gdLst/>
              <a:ahLst/>
              <a:cxnLst/>
              <a:rect r="r" b="b" t="t" l="l"/>
              <a:pathLst>
                <a:path h="489707" w="1326312">
                  <a:moveTo>
                    <a:pt x="0" y="0"/>
                  </a:moveTo>
                  <a:lnTo>
                    <a:pt x="1326312" y="0"/>
                  </a:lnTo>
                  <a:lnTo>
                    <a:pt x="1326312" y="489707"/>
                  </a:lnTo>
                  <a:lnTo>
                    <a:pt x="0" y="489707"/>
                  </a:lnTo>
                  <a:close/>
                </a:path>
              </a:pathLst>
            </a:custGeom>
            <a:blipFill>
              <a:blip r:embed="rId2"/>
              <a:stretch>
                <a:fillRect l="0" t="-36498" r="0" b="-36498"/>
              </a:stretch>
            </a:blipFill>
          </p:spPr>
        </p:sp>
      </p:grpSp>
      <p:sp>
        <p:nvSpPr>
          <p:cNvPr name="Freeform 8" id="8"/>
          <p:cNvSpPr/>
          <p:nvPr/>
        </p:nvSpPr>
        <p:spPr>
          <a:xfrm flipH="false" flipV="false" rot="0">
            <a:off x="9142189" y="9062651"/>
            <a:ext cx="252007" cy="195649"/>
          </a:xfrm>
          <a:custGeom>
            <a:avLst/>
            <a:gdLst/>
            <a:ahLst/>
            <a:cxnLst/>
            <a:rect r="r" b="b" t="t" l="l"/>
            <a:pathLst>
              <a:path h="195649" w="252007">
                <a:moveTo>
                  <a:pt x="0" y="0"/>
                </a:moveTo>
                <a:lnTo>
                  <a:pt x="252008" y="0"/>
                </a:lnTo>
                <a:lnTo>
                  <a:pt x="252008" y="195649"/>
                </a:lnTo>
                <a:lnTo>
                  <a:pt x="0" y="195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17007293" y="9062651"/>
            <a:ext cx="252007" cy="195649"/>
          </a:xfrm>
          <a:custGeom>
            <a:avLst/>
            <a:gdLst/>
            <a:ahLst/>
            <a:cxnLst/>
            <a:rect r="r" b="b" t="t" l="l"/>
            <a:pathLst>
              <a:path h="195649" w="252007">
                <a:moveTo>
                  <a:pt x="252007" y="0"/>
                </a:moveTo>
                <a:lnTo>
                  <a:pt x="0" y="0"/>
                </a:lnTo>
                <a:lnTo>
                  <a:pt x="0" y="195649"/>
                </a:lnTo>
                <a:lnTo>
                  <a:pt x="252007" y="195649"/>
                </a:lnTo>
                <a:lnTo>
                  <a:pt x="2520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a:off x="994310" y="2725733"/>
            <a:ext cx="7286625" cy="0"/>
          </a:xfrm>
          <a:prstGeom prst="line">
            <a:avLst/>
          </a:prstGeom>
          <a:ln cap="flat" w="9525">
            <a:solidFill>
              <a:srgbClr val="2B2B2B"/>
            </a:solidFill>
            <a:prstDash val="solid"/>
            <a:headEnd type="none" len="sm" w="sm"/>
            <a:tailEnd type="none" len="sm" w="sm"/>
          </a:ln>
        </p:spPr>
      </p:sp>
      <p:sp>
        <p:nvSpPr>
          <p:cNvPr name="Freeform 11" id="11"/>
          <p:cNvSpPr/>
          <p:nvPr/>
        </p:nvSpPr>
        <p:spPr>
          <a:xfrm flipH="true" flipV="false" rot="-5968737">
            <a:off x="8152578" y="6615067"/>
            <a:ext cx="4268319" cy="3916183"/>
          </a:xfrm>
          <a:custGeom>
            <a:avLst/>
            <a:gdLst/>
            <a:ahLst/>
            <a:cxnLst/>
            <a:rect r="r" b="b" t="t" l="l"/>
            <a:pathLst>
              <a:path h="3916183" w="4268319">
                <a:moveTo>
                  <a:pt x="4268319" y="0"/>
                </a:moveTo>
                <a:lnTo>
                  <a:pt x="0" y="0"/>
                </a:lnTo>
                <a:lnTo>
                  <a:pt x="0" y="3916183"/>
                </a:lnTo>
                <a:lnTo>
                  <a:pt x="4268319" y="3916183"/>
                </a:lnTo>
                <a:lnTo>
                  <a:pt x="4268319" y="0"/>
                </a:lnTo>
                <a:close/>
              </a:path>
            </a:pathLst>
          </a:custGeom>
          <a:blipFill>
            <a:blip r:embed="rId5"/>
            <a:stretch>
              <a:fillRect l="0" t="0" r="0" b="0"/>
            </a:stretch>
          </a:blipFill>
        </p:spPr>
      </p:sp>
      <p:sp>
        <p:nvSpPr>
          <p:cNvPr name="TextBox 12" id="12"/>
          <p:cNvSpPr txBox="true"/>
          <p:nvPr/>
        </p:nvSpPr>
        <p:spPr>
          <a:xfrm rot="0">
            <a:off x="9860347" y="2208619"/>
            <a:ext cx="2935587" cy="3352800"/>
          </a:xfrm>
          <a:prstGeom prst="rect">
            <a:avLst/>
          </a:prstGeom>
        </p:spPr>
        <p:txBody>
          <a:bodyPr anchor="t" rtlCol="false" tIns="0" lIns="0" bIns="0" rIns="0">
            <a:spAutoFit/>
          </a:bodyPr>
          <a:lstStyle/>
          <a:p>
            <a:pPr algn="l">
              <a:lnSpc>
                <a:spcPts val="1680"/>
              </a:lnSpc>
            </a:pPr>
            <a:r>
              <a:rPr lang="en-US" sz="1400">
                <a:solidFill>
                  <a:srgbClr val="E8E8E8"/>
                </a:solidFill>
                <a:latin typeface="Fira Code"/>
                <a:ea typeface="Fira Code"/>
                <a:cs typeface="Fira Code"/>
                <a:sym typeface="Fira Code"/>
              </a:rPr>
              <a:t>Model ketiga menggunakan ResNet50 dengan pendekatan transfer learning. Bobot awal diperoleh dari proses pretraining pada dataset ImageNet sehingga model memiliki pengetahuan awal terhadap berbagai pola visual. Dengan pendekatan ini, waktu pelatihan dapat dipersingkat dan proses konvergensi menjadi lebih cepat. Selain itu, ResNet50 memiliki arsitektur yang lebih dalam dibanding CNN Baseline.</a:t>
            </a:r>
          </a:p>
        </p:txBody>
      </p:sp>
      <p:sp>
        <p:nvSpPr>
          <p:cNvPr name="TextBox 13" id="13"/>
          <p:cNvSpPr txBox="true"/>
          <p:nvPr/>
        </p:nvSpPr>
        <p:spPr>
          <a:xfrm rot="0">
            <a:off x="830319" y="1085850"/>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14" id="14"/>
          <p:cNvSpPr txBox="true"/>
          <p:nvPr/>
        </p:nvSpPr>
        <p:spPr>
          <a:xfrm rot="0">
            <a:off x="3988716" y="1028700"/>
            <a:ext cx="4326609" cy="72390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KLASIFIKASI KEPARAHAN TINGKAT ALZHEIMER</a:t>
            </a:r>
          </a:p>
        </p:txBody>
      </p:sp>
      <p:sp>
        <p:nvSpPr>
          <p:cNvPr name="TextBox 15" id="15"/>
          <p:cNvSpPr txBox="true"/>
          <p:nvPr/>
        </p:nvSpPr>
        <p:spPr>
          <a:xfrm rot="0">
            <a:off x="13492348" y="2088421"/>
            <a:ext cx="2961146" cy="3771900"/>
          </a:xfrm>
          <a:prstGeom prst="rect">
            <a:avLst/>
          </a:prstGeom>
        </p:spPr>
        <p:txBody>
          <a:bodyPr anchor="t" rtlCol="false" tIns="0" lIns="0" bIns="0" rIns="0">
            <a:spAutoFit/>
          </a:bodyPr>
          <a:lstStyle/>
          <a:p>
            <a:pPr algn="l">
              <a:lnSpc>
                <a:spcPts val="1680"/>
              </a:lnSpc>
            </a:pPr>
            <a:r>
              <a:rPr lang="en-US" sz="1400">
                <a:solidFill>
                  <a:srgbClr val="E8E8E8"/>
                </a:solidFill>
                <a:latin typeface="Fira Code"/>
                <a:ea typeface="Fira Code"/>
                <a:cs typeface="Fira Code"/>
                <a:sym typeface="Fira Code"/>
              </a:rPr>
              <a:t>Model keempat merupakan pendekatan hybrid yang menggabungkan CNN, Gabor, dan SVM. CNN digunakan untuk menangkap fitur semantik, sedangkan Gabor digunakan untuk mengekstraksi fitur tekstur pada citra MRI. Kedua jenis fitur tersebut kemudian digabungkan dan diklasifikasikan menggunakan SVM. Tujuan utama model ini adalah memanfaatkan keunggulan masing-masing metode agar performa klasifikasi menjadi lebih baik.</a:t>
            </a:r>
          </a:p>
        </p:txBody>
      </p:sp>
      <p:sp>
        <p:nvSpPr>
          <p:cNvPr name="Freeform 16" id="16"/>
          <p:cNvSpPr/>
          <p:nvPr/>
        </p:nvSpPr>
        <p:spPr>
          <a:xfrm flipH="false" flipV="false" rot="-2530788">
            <a:off x="14121825" y="6810520"/>
            <a:ext cx="5770935" cy="5316474"/>
          </a:xfrm>
          <a:custGeom>
            <a:avLst/>
            <a:gdLst/>
            <a:ahLst/>
            <a:cxnLst/>
            <a:rect r="r" b="b" t="t" l="l"/>
            <a:pathLst>
              <a:path h="5316474" w="5770935">
                <a:moveTo>
                  <a:pt x="0" y="0"/>
                </a:moveTo>
                <a:lnTo>
                  <a:pt x="5770935" y="0"/>
                </a:lnTo>
                <a:lnTo>
                  <a:pt x="5770935" y="5316474"/>
                </a:lnTo>
                <a:lnTo>
                  <a:pt x="0" y="5316474"/>
                </a:lnTo>
                <a:lnTo>
                  <a:pt x="0" y="0"/>
                </a:lnTo>
                <a:close/>
              </a:path>
            </a:pathLst>
          </a:custGeom>
          <a:blipFill>
            <a:blip r:embed="rId6"/>
            <a:stretch>
              <a:fillRect l="0" t="0" r="0" b="0"/>
            </a:stretch>
          </a:blipFill>
        </p:spPr>
      </p:sp>
      <p:sp>
        <p:nvSpPr>
          <p:cNvPr name="Freeform 17" id="17"/>
          <p:cNvSpPr/>
          <p:nvPr/>
        </p:nvSpPr>
        <p:spPr>
          <a:xfrm flipH="false" flipV="false" rot="0">
            <a:off x="16906509" y="3689840"/>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028700" y="1661223"/>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470270" y="2930239"/>
            <a:ext cx="4019229" cy="4002164"/>
            <a:chOff x="0" y="0"/>
            <a:chExt cx="1058562" cy="1054068"/>
          </a:xfrm>
        </p:grpSpPr>
        <p:sp>
          <p:nvSpPr>
            <p:cNvPr name="Freeform 20" id="20"/>
            <p:cNvSpPr/>
            <p:nvPr/>
          </p:nvSpPr>
          <p:spPr>
            <a:xfrm flipH="false" flipV="false" rot="0">
              <a:off x="0" y="0"/>
              <a:ext cx="1058562" cy="1054068"/>
            </a:xfrm>
            <a:custGeom>
              <a:avLst/>
              <a:gdLst/>
              <a:ahLst/>
              <a:cxnLst/>
              <a:rect r="r" b="b" t="t" l="l"/>
              <a:pathLst>
                <a:path h="1054068" w="1058562">
                  <a:moveTo>
                    <a:pt x="0" y="0"/>
                  </a:moveTo>
                  <a:lnTo>
                    <a:pt x="1058562" y="0"/>
                  </a:lnTo>
                  <a:lnTo>
                    <a:pt x="1058562" y="1054068"/>
                  </a:lnTo>
                  <a:lnTo>
                    <a:pt x="0" y="1054068"/>
                  </a:lnTo>
                  <a:close/>
                </a:path>
              </a:pathLst>
            </a:custGeom>
            <a:solidFill>
              <a:srgbClr val="E8E8E8"/>
            </a:solidFill>
            <a:ln w="9525" cap="sq">
              <a:solidFill>
                <a:srgbClr val="000000"/>
              </a:solidFill>
              <a:prstDash val="solid"/>
              <a:miter/>
            </a:ln>
          </p:spPr>
        </p:sp>
        <p:sp>
          <p:nvSpPr>
            <p:cNvPr name="TextBox 21" id="21"/>
            <p:cNvSpPr txBox="true"/>
            <p:nvPr/>
          </p:nvSpPr>
          <p:spPr>
            <a:xfrm>
              <a:off x="0" y="28575"/>
              <a:ext cx="1058562" cy="1025493"/>
            </a:xfrm>
            <a:prstGeom prst="rect">
              <a:avLst/>
            </a:prstGeom>
          </p:spPr>
          <p:txBody>
            <a:bodyPr anchor="ctr" rtlCol="false" tIns="50800" lIns="50800" bIns="50800" rIns="50800"/>
            <a:lstStyle/>
            <a:p>
              <a:pPr algn="ctr">
                <a:lnSpc>
                  <a:spcPts val="1800"/>
                </a:lnSpc>
              </a:pPr>
            </a:p>
          </p:txBody>
        </p:sp>
      </p:grpSp>
      <p:sp>
        <p:nvSpPr>
          <p:cNvPr name="TextBox 22" id="22"/>
          <p:cNvSpPr txBox="true"/>
          <p:nvPr/>
        </p:nvSpPr>
        <p:spPr>
          <a:xfrm rot="0">
            <a:off x="971054" y="3100754"/>
            <a:ext cx="3017662" cy="361950"/>
          </a:xfrm>
          <a:prstGeom prst="rect">
            <a:avLst/>
          </a:prstGeom>
        </p:spPr>
        <p:txBody>
          <a:bodyPr anchor="t" rtlCol="false" tIns="0" lIns="0" bIns="0" rIns="0">
            <a:spAutoFit/>
          </a:bodyPr>
          <a:lstStyle/>
          <a:p>
            <a:pPr algn="ctr">
              <a:lnSpc>
                <a:spcPts val="2879"/>
              </a:lnSpc>
            </a:pPr>
            <a:r>
              <a:rPr lang="en-US" sz="2400">
                <a:solidFill>
                  <a:srgbClr val="2B2B2B"/>
                </a:solidFill>
                <a:latin typeface="Fira Code"/>
                <a:ea typeface="Fira Code"/>
                <a:cs typeface="Fira Code"/>
                <a:sym typeface="Fira Code"/>
              </a:rPr>
              <a:t>LBP + SVM</a:t>
            </a:r>
          </a:p>
        </p:txBody>
      </p:sp>
      <p:sp>
        <p:nvSpPr>
          <p:cNvPr name="AutoShape 23" id="23"/>
          <p:cNvSpPr/>
          <p:nvPr/>
        </p:nvSpPr>
        <p:spPr>
          <a:xfrm>
            <a:off x="830319" y="9687832"/>
            <a:ext cx="6492240" cy="0"/>
          </a:xfrm>
          <a:prstGeom prst="line">
            <a:avLst/>
          </a:prstGeom>
          <a:ln cap="flat" w="38100">
            <a:solidFill>
              <a:srgbClr val="2B2B2B"/>
            </a:solidFill>
            <a:prstDash val="solid"/>
            <a:headEnd type="none" len="sm" w="sm"/>
            <a:tailEnd type="none" len="sm" w="sm"/>
          </a:ln>
        </p:spPr>
      </p:sp>
      <p:sp>
        <p:nvSpPr>
          <p:cNvPr name="TextBox 24" id="24"/>
          <p:cNvSpPr txBox="true"/>
          <p:nvPr/>
        </p:nvSpPr>
        <p:spPr>
          <a:xfrm rot="0">
            <a:off x="750338" y="3689840"/>
            <a:ext cx="3459094" cy="2933700"/>
          </a:xfrm>
          <a:prstGeom prst="rect">
            <a:avLst/>
          </a:prstGeom>
        </p:spPr>
        <p:txBody>
          <a:bodyPr anchor="t" rtlCol="false" tIns="0" lIns="0" bIns="0" rIns="0">
            <a:spAutoFit/>
          </a:bodyPr>
          <a:lstStyle/>
          <a:p>
            <a:pPr algn="l">
              <a:lnSpc>
                <a:spcPts val="1680"/>
              </a:lnSpc>
            </a:pPr>
            <a:r>
              <a:rPr lang="en-US" sz="1400">
                <a:solidFill>
                  <a:srgbClr val="000000"/>
                </a:solidFill>
                <a:latin typeface="Fira Code"/>
                <a:ea typeface="Fira Code"/>
                <a:cs typeface="Fira Code"/>
                <a:sym typeface="Fira Code"/>
              </a:rPr>
              <a:t>Mo</a:t>
            </a:r>
            <a:r>
              <a:rPr lang="en-US" sz="1400">
                <a:solidFill>
                  <a:srgbClr val="000000"/>
                </a:solidFill>
                <a:latin typeface="Fira Code"/>
                <a:ea typeface="Fira Code"/>
                <a:cs typeface="Fira Code"/>
                <a:sym typeface="Fira Code"/>
              </a:rPr>
              <a:t>del pertama menggunakan pendekatan tradisional dengan ekstraksi fitur Local Binary Pattern atau LBP dan klasifikasi menggunakan SVM. LBP berfungsi untuk menangkap pola tekstur lokal pada citra MRI. Keunggulan metode ini adalah proses komputasinya relatif ringan dan cepat. Namun, karena fitur yang digunakan masih handcrafted, model memiliki keterbatasan dalam memahami pola semantik yang lebih kompleks.</a:t>
            </a:r>
          </a:p>
        </p:txBody>
      </p:sp>
      <p:grpSp>
        <p:nvGrpSpPr>
          <p:cNvPr name="Group 25" id="25"/>
          <p:cNvGrpSpPr/>
          <p:nvPr/>
        </p:nvGrpSpPr>
        <p:grpSpPr>
          <a:xfrm rot="0">
            <a:off x="4785745" y="2930239"/>
            <a:ext cx="4019229" cy="4002164"/>
            <a:chOff x="0" y="0"/>
            <a:chExt cx="1058562" cy="1054068"/>
          </a:xfrm>
        </p:grpSpPr>
        <p:sp>
          <p:nvSpPr>
            <p:cNvPr name="Freeform 26" id="26"/>
            <p:cNvSpPr/>
            <p:nvPr/>
          </p:nvSpPr>
          <p:spPr>
            <a:xfrm flipH="false" flipV="false" rot="0">
              <a:off x="0" y="0"/>
              <a:ext cx="1058562" cy="1054068"/>
            </a:xfrm>
            <a:custGeom>
              <a:avLst/>
              <a:gdLst/>
              <a:ahLst/>
              <a:cxnLst/>
              <a:rect r="r" b="b" t="t" l="l"/>
              <a:pathLst>
                <a:path h="1054068" w="1058562">
                  <a:moveTo>
                    <a:pt x="0" y="0"/>
                  </a:moveTo>
                  <a:lnTo>
                    <a:pt x="1058562" y="0"/>
                  </a:lnTo>
                  <a:lnTo>
                    <a:pt x="1058562" y="1054068"/>
                  </a:lnTo>
                  <a:lnTo>
                    <a:pt x="0" y="1054068"/>
                  </a:lnTo>
                  <a:close/>
                </a:path>
              </a:pathLst>
            </a:custGeom>
            <a:solidFill>
              <a:srgbClr val="E8E8E8"/>
            </a:solidFill>
            <a:ln w="9525" cap="sq">
              <a:solidFill>
                <a:srgbClr val="000000"/>
              </a:solidFill>
              <a:prstDash val="solid"/>
              <a:miter/>
            </a:ln>
          </p:spPr>
        </p:sp>
        <p:sp>
          <p:nvSpPr>
            <p:cNvPr name="TextBox 27" id="27"/>
            <p:cNvSpPr txBox="true"/>
            <p:nvPr/>
          </p:nvSpPr>
          <p:spPr>
            <a:xfrm>
              <a:off x="0" y="28575"/>
              <a:ext cx="1058562" cy="1025493"/>
            </a:xfrm>
            <a:prstGeom prst="rect">
              <a:avLst/>
            </a:prstGeom>
          </p:spPr>
          <p:txBody>
            <a:bodyPr anchor="ctr" rtlCol="false" tIns="50800" lIns="50800" bIns="50800" rIns="50800"/>
            <a:lstStyle/>
            <a:p>
              <a:pPr algn="ctr">
                <a:lnSpc>
                  <a:spcPts val="1800"/>
                </a:lnSpc>
              </a:pPr>
            </a:p>
          </p:txBody>
        </p:sp>
      </p:grpSp>
      <p:sp>
        <p:nvSpPr>
          <p:cNvPr name="TextBox 28" id="28"/>
          <p:cNvSpPr txBox="true"/>
          <p:nvPr/>
        </p:nvSpPr>
        <p:spPr>
          <a:xfrm rot="0">
            <a:off x="5286528" y="3100754"/>
            <a:ext cx="3017662" cy="361950"/>
          </a:xfrm>
          <a:prstGeom prst="rect">
            <a:avLst/>
          </a:prstGeom>
        </p:spPr>
        <p:txBody>
          <a:bodyPr anchor="t" rtlCol="false" tIns="0" lIns="0" bIns="0" rIns="0">
            <a:spAutoFit/>
          </a:bodyPr>
          <a:lstStyle/>
          <a:p>
            <a:pPr algn="ctr">
              <a:lnSpc>
                <a:spcPts val="2879"/>
              </a:lnSpc>
            </a:pPr>
            <a:r>
              <a:rPr lang="en-US" sz="2400">
                <a:solidFill>
                  <a:srgbClr val="2B2B2B"/>
                </a:solidFill>
                <a:latin typeface="Fira Code"/>
                <a:ea typeface="Fira Code"/>
                <a:cs typeface="Fira Code"/>
                <a:sym typeface="Fira Code"/>
              </a:rPr>
              <a:t>CNN BASELINE</a:t>
            </a:r>
          </a:p>
        </p:txBody>
      </p:sp>
      <p:sp>
        <p:nvSpPr>
          <p:cNvPr name="TextBox 29" id="29"/>
          <p:cNvSpPr txBox="true"/>
          <p:nvPr/>
        </p:nvSpPr>
        <p:spPr>
          <a:xfrm rot="0">
            <a:off x="5065812" y="3689840"/>
            <a:ext cx="3459094" cy="2724150"/>
          </a:xfrm>
          <a:prstGeom prst="rect">
            <a:avLst/>
          </a:prstGeom>
        </p:spPr>
        <p:txBody>
          <a:bodyPr anchor="t" rtlCol="false" tIns="0" lIns="0" bIns="0" rIns="0">
            <a:spAutoFit/>
          </a:bodyPr>
          <a:lstStyle/>
          <a:p>
            <a:pPr algn="l">
              <a:lnSpc>
                <a:spcPts val="1680"/>
              </a:lnSpc>
            </a:pPr>
            <a:r>
              <a:rPr lang="en-US" sz="1400">
                <a:solidFill>
                  <a:srgbClr val="000000"/>
                </a:solidFill>
                <a:latin typeface="Fira Code"/>
                <a:ea typeface="Fira Code"/>
                <a:cs typeface="Fira Code"/>
                <a:sym typeface="Fira Code"/>
              </a:rPr>
              <a:t>Model</a:t>
            </a:r>
            <a:r>
              <a:rPr lang="en-US" sz="1400">
                <a:solidFill>
                  <a:srgbClr val="000000"/>
                </a:solidFill>
                <a:latin typeface="Fira Code"/>
                <a:ea typeface="Fira Code"/>
                <a:cs typeface="Fira Code"/>
                <a:sym typeface="Fira Code"/>
              </a:rPr>
              <a:t> kedua menggunakan CNN Baseline yang mampu mempelajari fitur secara otomatis dari data citra. Berbeda dengan LBP, model ini tidak memerlukan proses ekstraksi fitur manual. CNN dapat mengenali pola yang lebih kompleks melalui proses pelatihan bertingkat pada setiap convolution layer. Model ini digunakan sebagai baseline untuk membandingkan performa metode yang lebih lanjut.</a:t>
            </a:r>
          </a:p>
        </p:txBody>
      </p:sp>
      <p:sp>
        <p:nvSpPr>
          <p:cNvPr name="TextBox 30" id="30"/>
          <p:cNvSpPr txBox="true"/>
          <p:nvPr/>
        </p:nvSpPr>
        <p:spPr>
          <a:xfrm rot="0">
            <a:off x="9490061" y="1280223"/>
            <a:ext cx="3305872" cy="723900"/>
          </a:xfrm>
          <a:prstGeom prst="rect">
            <a:avLst/>
          </a:prstGeom>
        </p:spPr>
        <p:txBody>
          <a:bodyPr anchor="t" rtlCol="false" tIns="0" lIns="0" bIns="0" rIns="0">
            <a:spAutoFit/>
          </a:bodyPr>
          <a:lstStyle/>
          <a:p>
            <a:pPr algn="ctr">
              <a:lnSpc>
                <a:spcPts val="2879"/>
              </a:lnSpc>
            </a:pPr>
            <a:r>
              <a:rPr lang="en-US" sz="2400">
                <a:solidFill>
                  <a:srgbClr val="E8E8E8"/>
                </a:solidFill>
                <a:latin typeface="Fira Code"/>
                <a:ea typeface="Fira Code"/>
                <a:cs typeface="Fira Code"/>
                <a:sym typeface="Fira Code"/>
              </a:rPr>
              <a:t>RESNET50</a:t>
            </a:r>
          </a:p>
          <a:p>
            <a:pPr algn="ctr">
              <a:lnSpc>
                <a:spcPts val="2879"/>
              </a:lnSpc>
            </a:pPr>
            <a:r>
              <a:rPr lang="en-US" sz="2400">
                <a:solidFill>
                  <a:srgbClr val="E8E8E8"/>
                </a:solidFill>
                <a:latin typeface="Fira Code"/>
                <a:ea typeface="Fira Code"/>
                <a:cs typeface="Fira Code"/>
                <a:sym typeface="Fira Code"/>
              </a:rPr>
              <a:t> TRANSFER LEARNING</a:t>
            </a:r>
          </a:p>
        </p:txBody>
      </p:sp>
      <p:sp>
        <p:nvSpPr>
          <p:cNvPr name="TextBox 31" id="31"/>
          <p:cNvSpPr txBox="true"/>
          <p:nvPr/>
        </p:nvSpPr>
        <p:spPr>
          <a:xfrm rot="0">
            <a:off x="13169467" y="1269271"/>
            <a:ext cx="3252750" cy="723900"/>
          </a:xfrm>
          <a:prstGeom prst="rect">
            <a:avLst/>
          </a:prstGeom>
        </p:spPr>
        <p:txBody>
          <a:bodyPr anchor="t" rtlCol="false" tIns="0" lIns="0" bIns="0" rIns="0">
            <a:spAutoFit/>
          </a:bodyPr>
          <a:lstStyle/>
          <a:p>
            <a:pPr algn="ctr">
              <a:lnSpc>
                <a:spcPts val="2879"/>
              </a:lnSpc>
            </a:pPr>
            <a:r>
              <a:rPr lang="en-US" sz="2400">
                <a:solidFill>
                  <a:srgbClr val="E8E8E8"/>
                </a:solidFill>
                <a:latin typeface="Fira Code"/>
                <a:ea typeface="Fira Code"/>
                <a:cs typeface="Fira Code"/>
                <a:sym typeface="Fira Code"/>
              </a:rPr>
              <a:t>HYBRID CNN+GABOR+SVM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8526841" y="0"/>
            <a:ext cx="9761159" cy="10287000"/>
            <a:chOff x="0" y="0"/>
            <a:chExt cx="2570840" cy="2709333"/>
          </a:xfrm>
        </p:grpSpPr>
        <p:sp>
          <p:nvSpPr>
            <p:cNvPr name="Freeform 3" id="3"/>
            <p:cNvSpPr/>
            <p:nvPr/>
          </p:nvSpPr>
          <p:spPr>
            <a:xfrm flipH="false" flipV="false" rot="0">
              <a:off x="0" y="0"/>
              <a:ext cx="2570840" cy="2709333"/>
            </a:xfrm>
            <a:custGeom>
              <a:avLst/>
              <a:gdLst/>
              <a:ahLst/>
              <a:cxnLst/>
              <a:rect r="r" b="b" t="t" l="l"/>
              <a:pathLst>
                <a:path h="2709333" w="2570840">
                  <a:moveTo>
                    <a:pt x="0" y="0"/>
                  </a:moveTo>
                  <a:lnTo>
                    <a:pt x="2570840" y="0"/>
                  </a:lnTo>
                  <a:lnTo>
                    <a:pt x="2570840" y="2709333"/>
                  </a:lnTo>
                  <a:lnTo>
                    <a:pt x="0" y="2709333"/>
                  </a:lnTo>
                  <a:close/>
                </a:path>
              </a:pathLst>
            </a:custGeom>
            <a:solidFill>
              <a:srgbClr val="2B2B2B"/>
            </a:solidFill>
          </p:spPr>
        </p:sp>
        <p:sp>
          <p:nvSpPr>
            <p:cNvPr name="TextBox 4" id="4"/>
            <p:cNvSpPr txBox="true"/>
            <p:nvPr/>
          </p:nvSpPr>
          <p:spPr>
            <a:xfrm>
              <a:off x="0" y="28575"/>
              <a:ext cx="2570840" cy="2680758"/>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1028700" y="379264"/>
            <a:ext cx="7498141" cy="8879036"/>
            <a:chOff x="0" y="0"/>
            <a:chExt cx="1974819" cy="2338511"/>
          </a:xfrm>
        </p:grpSpPr>
        <p:sp>
          <p:nvSpPr>
            <p:cNvPr name="Freeform 6" id="6"/>
            <p:cNvSpPr/>
            <p:nvPr/>
          </p:nvSpPr>
          <p:spPr>
            <a:xfrm flipH="false" flipV="false" rot="0">
              <a:off x="0" y="0"/>
              <a:ext cx="1974819" cy="2338512"/>
            </a:xfrm>
            <a:custGeom>
              <a:avLst/>
              <a:gdLst/>
              <a:ahLst/>
              <a:cxnLst/>
              <a:rect r="r" b="b" t="t" l="l"/>
              <a:pathLst>
                <a:path h="2338512" w="1974819">
                  <a:moveTo>
                    <a:pt x="0" y="0"/>
                  </a:moveTo>
                  <a:lnTo>
                    <a:pt x="1974819" y="0"/>
                  </a:lnTo>
                  <a:lnTo>
                    <a:pt x="1974819" y="2338512"/>
                  </a:lnTo>
                  <a:lnTo>
                    <a:pt x="0" y="2338512"/>
                  </a:lnTo>
                  <a:close/>
                </a:path>
              </a:pathLst>
            </a:custGeom>
            <a:solidFill>
              <a:srgbClr val="E8E8E8"/>
            </a:solidFill>
            <a:ln w="9525" cap="sq">
              <a:solidFill>
                <a:srgbClr val="000000"/>
              </a:solidFill>
              <a:prstDash val="solid"/>
              <a:miter/>
            </a:ln>
          </p:spPr>
        </p:sp>
        <p:sp>
          <p:nvSpPr>
            <p:cNvPr name="TextBox 7" id="7"/>
            <p:cNvSpPr txBox="true"/>
            <p:nvPr/>
          </p:nvSpPr>
          <p:spPr>
            <a:xfrm>
              <a:off x="0" y="28575"/>
              <a:ext cx="1974819" cy="2309936"/>
            </a:xfrm>
            <a:prstGeom prst="rect">
              <a:avLst/>
            </a:prstGeom>
          </p:spPr>
          <p:txBody>
            <a:bodyPr anchor="ctr" rtlCol="false" tIns="50800" lIns="50800" bIns="50800" rIns="50800"/>
            <a:lstStyle/>
            <a:p>
              <a:pPr algn="ctr">
                <a:lnSpc>
                  <a:spcPts val="1800"/>
                </a:lnSpc>
              </a:pPr>
            </a:p>
          </p:txBody>
        </p:sp>
      </p:grpSp>
      <p:sp>
        <p:nvSpPr>
          <p:cNvPr name="Freeform 8" id="8"/>
          <p:cNvSpPr/>
          <p:nvPr/>
        </p:nvSpPr>
        <p:spPr>
          <a:xfrm flipH="false" flipV="false" rot="-806134">
            <a:off x="8006573" y="5091674"/>
            <a:ext cx="1458221" cy="1463710"/>
          </a:xfrm>
          <a:custGeom>
            <a:avLst/>
            <a:gdLst/>
            <a:ahLst/>
            <a:cxnLst/>
            <a:rect r="r" b="b" t="t" l="l"/>
            <a:pathLst>
              <a:path h="1463710" w="1458221">
                <a:moveTo>
                  <a:pt x="0" y="0"/>
                </a:moveTo>
                <a:lnTo>
                  <a:pt x="1458222" y="0"/>
                </a:lnTo>
                <a:lnTo>
                  <a:pt x="1458222" y="1463710"/>
                </a:lnTo>
                <a:lnTo>
                  <a:pt x="0" y="1463710"/>
                </a:lnTo>
                <a:lnTo>
                  <a:pt x="0" y="0"/>
                </a:lnTo>
                <a:close/>
              </a:path>
            </a:pathLst>
          </a:custGeom>
          <a:blipFill>
            <a:blip r:embed="rId2"/>
            <a:stretch>
              <a:fillRect l="0" t="0" r="0" b="0"/>
            </a:stretch>
          </a:blipFill>
        </p:spPr>
      </p:sp>
      <p:sp>
        <p:nvSpPr>
          <p:cNvPr name="Freeform 9" id="9"/>
          <p:cNvSpPr/>
          <p:nvPr/>
        </p:nvSpPr>
        <p:spPr>
          <a:xfrm flipH="false" flipV="true" rot="0">
            <a:off x="1417046" y="619835"/>
            <a:ext cx="252007" cy="195649"/>
          </a:xfrm>
          <a:custGeom>
            <a:avLst/>
            <a:gdLst/>
            <a:ahLst/>
            <a:cxnLst/>
            <a:rect r="r" b="b" t="t" l="l"/>
            <a:pathLst>
              <a:path h="195649" w="252007">
                <a:moveTo>
                  <a:pt x="0" y="195650"/>
                </a:moveTo>
                <a:lnTo>
                  <a:pt x="252008" y="195650"/>
                </a:lnTo>
                <a:lnTo>
                  <a:pt x="252008" y="0"/>
                </a:lnTo>
                <a:lnTo>
                  <a:pt x="0" y="0"/>
                </a:lnTo>
                <a:lnTo>
                  <a:pt x="0" y="19565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543050" y="8543925"/>
            <a:ext cx="252007" cy="195649"/>
          </a:xfrm>
          <a:custGeom>
            <a:avLst/>
            <a:gdLst/>
            <a:ahLst/>
            <a:cxnLst/>
            <a:rect r="r" b="b" t="t" l="l"/>
            <a:pathLst>
              <a:path h="195649" w="252007">
                <a:moveTo>
                  <a:pt x="0" y="0"/>
                </a:moveTo>
                <a:lnTo>
                  <a:pt x="252007" y="0"/>
                </a:lnTo>
                <a:lnTo>
                  <a:pt x="252007" y="195649"/>
                </a:lnTo>
                <a:lnTo>
                  <a:pt x="0" y="195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1" id="11"/>
          <p:cNvSpPr/>
          <p:nvPr/>
        </p:nvSpPr>
        <p:spPr>
          <a:xfrm>
            <a:off x="9512155" y="2942294"/>
            <a:ext cx="7703759" cy="0"/>
          </a:xfrm>
          <a:prstGeom prst="line">
            <a:avLst/>
          </a:prstGeom>
          <a:ln cap="flat" w="9525">
            <a:solidFill>
              <a:srgbClr val="E8E8E8"/>
            </a:solidFill>
            <a:prstDash val="solid"/>
            <a:headEnd type="none" len="sm" w="sm"/>
            <a:tailEnd type="none" len="sm" w="sm"/>
          </a:ln>
        </p:spPr>
      </p:sp>
      <p:sp>
        <p:nvSpPr>
          <p:cNvPr name="Freeform 12" id="12"/>
          <p:cNvSpPr/>
          <p:nvPr/>
        </p:nvSpPr>
        <p:spPr>
          <a:xfrm flipH="false" flipV="false" rot="-778458">
            <a:off x="-671587" y="2085202"/>
            <a:ext cx="3400573" cy="3120026"/>
          </a:xfrm>
          <a:custGeom>
            <a:avLst/>
            <a:gdLst/>
            <a:ahLst/>
            <a:cxnLst/>
            <a:rect r="r" b="b" t="t" l="l"/>
            <a:pathLst>
              <a:path h="3120026" w="3400573">
                <a:moveTo>
                  <a:pt x="0" y="0"/>
                </a:moveTo>
                <a:lnTo>
                  <a:pt x="3400574" y="0"/>
                </a:lnTo>
                <a:lnTo>
                  <a:pt x="3400574" y="3120026"/>
                </a:lnTo>
                <a:lnTo>
                  <a:pt x="0" y="3120026"/>
                </a:lnTo>
                <a:lnTo>
                  <a:pt x="0" y="0"/>
                </a:lnTo>
                <a:close/>
              </a:path>
            </a:pathLst>
          </a:custGeom>
          <a:blipFill>
            <a:blip r:embed="rId5"/>
            <a:stretch>
              <a:fillRect l="0" t="0" r="0" b="0"/>
            </a:stretch>
          </a:blipFill>
        </p:spPr>
      </p:sp>
      <p:sp>
        <p:nvSpPr>
          <p:cNvPr name="Freeform 13" id="13"/>
          <p:cNvSpPr/>
          <p:nvPr/>
        </p:nvSpPr>
        <p:spPr>
          <a:xfrm flipH="false" flipV="false" rot="0">
            <a:off x="13209332" y="9170102"/>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3058062" y="4970620"/>
            <a:ext cx="4250180" cy="1360057"/>
          </a:xfrm>
          <a:custGeom>
            <a:avLst/>
            <a:gdLst/>
            <a:ahLst/>
            <a:cxnLst/>
            <a:rect r="r" b="b" t="t" l="l"/>
            <a:pathLst>
              <a:path h="1360057" w="4250180">
                <a:moveTo>
                  <a:pt x="0" y="0"/>
                </a:moveTo>
                <a:lnTo>
                  <a:pt x="4250180" y="0"/>
                </a:lnTo>
                <a:lnTo>
                  <a:pt x="4250180" y="1360057"/>
                </a:lnTo>
                <a:lnTo>
                  <a:pt x="0" y="1360057"/>
                </a:lnTo>
                <a:lnTo>
                  <a:pt x="0" y="0"/>
                </a:lnTo>
                <a:close/>
              </a:path>
            </a:pathLst>
          </a:custGeom>
          <a:blipFill>
            <a:blip r:embed="rId8"/>
            <a:stretch>
              <a:fillRect l="0" t="0" r="0" b="0"/>
            </a:stretch>
          </a:blipFill>
        </p:spPr>
      </p:sp>
      <p:sp>
        <p:nvSpPr>
          <p:cNvPr name="Freeform 15" id="15"/>
          <p:cNvSpPr/>
          <p:nvPr/>
        </p:nvSpPr>
        <p:spPr>
          <a:xfrm flipH="false" flipV="false" rot="0">
            <a:off x="14114573" y="3770925"/>
            <a:ext cx="3445089" cy="2565492"/>
          </a:xfrm>
          <a:custGeom>
            <a:avLst/>
            <a:gdLst/>
            <a:ahLst/>
            <a:cxnLst/>
            <a:rect r="r" b="b" t="t" l="l"/>
            <a:pathLst>
              <a:path h="2565492" w="3445089">
                <a:moveTo>
                  <a:pt x="0" y="0"/>
                </a:moveTo>
                <a:lnTo>
                  <a:pt x="3445090" y="0"/>
                </a:lnTo>
                <a:lnTo>
                  <a:pt x="3445090" y="2565492"/>
                </a:lnTo>
                <a:lnTo>
                  <a:pt x="0" y="2565492"/>
                </a:lnTo>
                <a:lnTo>
                  <a:pt x="0" y="0"/>
                </a:lnTo>
                <a:close/>
              </a:path>
            </a:pathLst>
          </a:custGeom>
          <a:blipFill>
            <a:blip r:embed="rId9"/>
            <a:stretch>
              <a:fillRect l="0" t="0" r="0" b="0"/>
            </a:stretch>
          </a:blipFill>
        </p:spPr>
      </p:sp>
      <p:sp>
        <p:nvSpPr>
          <p:cNvPr name="Freeform 16" id="16"/>
          <p:cNvSpPr/>
          <p:nvPr/>
        </p:nvSpPr>
        <p:spPr>
          <a:xfrm flipH="false" flipV="false" rot="0">
            <a:off x="3116973" y="6559277"/>
            <a:ext cx="3321594" cy="2473528"/>
          </a:xfrm>
          <a:custGeom>
            <a:avLst/>
            <a:gdLst/>
            <a:ahLst/>
            <a:cxnLst/>
            <a:rect r="r" b="b" t="t" l="l"/>
            <a:pathLst>
              <a:path h="2473528" w="3321594">
                <a:moveTo>
                  <a:pt x="0" y="0"/>
                </a:moveTo>
                <a:lnTo>
                  <a:pt x="3321594" y="0"/>
                </a:lnTo>
                <a:lnTo>
                  <a:pt x="3321594" y="2473528"/>
                </a:lnTo>
                <a:lnTo>
                  <a:pt x="0" y="2473528"/>
                </a:lnTo>
                <a:lnTo>
                  <a:pt x="0" y="0"/>
                </a:lnTo>
                <a:close/>
              </a:path>
            </a:pathLst>
          </a:custGeom>
          <a:blipFill>
            <a:blip r:embed="rId10"/>
            <a:stretch>
              <a:fillRect l="0" t="0" r="0" b="0"/>
            </a:stretch>
          </a:blipFill>
        </p:spPr>
      </p:sp>
      <p:sp>
        <p:nvSpPr>
          <p:cNvPr name="Freeform 17" id="17"/>
          <p:cNvSpPr/>
          <p:nvPr/>
        </p:nvSpPr>
        <p:spPr>
          <a:xfrm flipH="false" flipV="false" rot="0">
            <a:off x="10732827" y="7309429"/>
            <a:ext cx="6058945" cy="1863126"/>
          </a:xfrm>
          <a:custGeom>
            <a:avLst/>
            <a:gdLst/>
            <a:ahLst/>
            <a:cxnLst/>
            <a:rect r="r" b="b" t="t" l="l"/>
            <a:pathLst>
              <a:path h="1863126" w="6058945">
                <a:moveTo>
                  <a:pt x="0" y="0"/>
                </a:moveTo>
                <a:lnTo>
                  <a:pt x="6058945" y="0"/>
                </a:lnTo>
                <a:lnTo>
                  <a:pt x="6058945" y="1863125"/>
                </a:lnTo>
                <a:lnTo>
                  <a:pt x="0" y="1863125"/>
                </a:lnTo>
                <a:lnTo>
                  <a:pt x="0" y="0"/>
                </a:lnTo>
                <a:close/>
              </a:path>
            </a:pathLst>
          </a:custGeom>
          <a:blipFill>
            <a:blip r:embed="rId11"/>
            <a:stretch>
              <a:fillRect l="0" t="0" r="0" b="0"/>
            </a:stretch>
          </a:blipFill>
        </p:spPr>
      </p:sp>
      <p:sp>
        <p:nvSpPr>
          <p:cNvPr name="TextBox 18" id="18"/>
          <p:cNvSpPr txBox="true"/>
          <p:nvPr/>
        </p:nvSpPr>
        <p:spPr>
          <a:xfrm rot="0">
            <a:off x="9512155" y="1466850"/>
            <a:ext cx="8099936" cy="781052"/>
          </a:xfrm>
          <a:prstGeom prst="rect">
            <a:avLst/>
          </a:prstGeom>
        </p:spPr>
        <p:txBody>
          <a:bodyPr anchor="t" rtlCol="false" tIns="0" lIns="0" bIns="0" rIns="0">
            <a:spAutoFit/>
          </a:bodyPr>
          <a:lstStyle/>
          <a:p>
            <a:pPr algn="l">
              <a:lnSpc>
                <a:spcPts val="4800"/>
              </a:lnSpc>
            </a:pPr>
            <a:r>
              <a:rPr lang="en-US" sz="8000" spc="-160">
                <a:solidFill>
                  <a:srgbClr val="E8E8E8"/>
                </a:solidFill>
                <a:latin typeface="RQND Pro Condensed"/>
                <a:ea typeface="RQND Pro Condensed"/>
                <a:cs typeface="RQND Pro Condensed"/>
                <a:sym typeface="RQND Pro Condensed"/>
              </a:rPr>
              <a:t>EVALUASI MODEL</a:t>
            </a:r>
          </a:p>
        </p:txBody>
      </p:sp>
      <p:sp>
        <p:nvSpPr>
          <p:cNvPr name="TextBox 19" id="19"/>
          <p:cNvSpPr txBox="true"/>
          <p:nvPr/>
        </p:nvSpPr>
        <p:spPr>
          <a:xfrm rot="0">
            <a:off x="9335760" y="4671004"/>
            <a:ext cx="4049968" cy="2305050"/>
          </a:xfrm>
          <a:prstGeom prst="rect">
            <a:avLst/>
          </a:prstGeom>
        </p:spPr>
        <p:txBody>
          <a:bodyPr anchor="t" rtlCol="false" tIns="0" lIns="0" bIns="0" rIns="0">
            <a:spAutoFit/>
          </a:bodyPr>
          <a:lstStyle/>
          <a:p>
            <a:pPr algn="l" marL="302261" indent="-151130" lvl="1">
              <a:lnSpc>
                <a:spcPts val="1680"/>
              </a:lnSpc>
              <a:buFont typeface="Arial"/>
              <a:buChar char="•"/>
            </a:pPr>
            <a:r>
              <a:rPr lang="en-US" sz="1400">
                <a:solidFill>
                  <a:srgbClr val="E8E8E8"/>
                </a:solidFill>
                <a:latin typeface="Fira Code"/>
                <a:ea typeface="Fira Code"/>
                <a:cs typeface="Fira Code"/>
                <a:sym typeface="Fira Code"/>
              </a:rPr>
              <a:t>Memperoleh akurasi sebesar 85,60% dan F1-Score sebesar 85,32% pada data pengujian.</a:t>
            </a:r>
          </a:p>
          <a:p>
            <a:pPr algn="l" marL="302261" indent="-151130" lvl="1">
              <a:lnSpc>
                <a:spcPts val="1680"/>
              </a:lnSpc>
              <a:buFont typeface="Arial"/>
              <a:buChar char="•"/>
            </a:pPr>
            <a:r>
              <a:rPr lang="en-US" sz="1400">
                <a:solidFill>
                  <a:srgbClr val="E8E8E8"/>
                </a:solidFill>
                <a:latin typeface="Fira Code"/>
                <a:ea typeface="Fira Code"/>
                <a:cs typeface="Fira Code"/>
                <a:sym typeface="Fira Code"/>
              </a:rPr>
              <a:t>Memberikan performa terbaik pada kelas Moderate Demented, namun masih ditemukan kesalahan klasifikasi pada kelas yang memiliki kemiripan visual tinggi.</a:t>
            </a:r>
          </a:p>
          <a:p>
            <a:pPr algn="l" marL="302261" indent="-151130" lvl="1">
              <a:lnSpc>
                <a:spcPts val="1680"/>
              </a:lnSpc>
              <a:buFont typeface="Arial"/>
              <a:buChar char="•"/>
            </a:pPr>
            <a:r>
              <a:rPr lang="en-US" sz="1400">
                <a:solidFill>
                  <a:srgbClr val="E8E8E8"/>
                </a:solidFill>
                <a:latin typeface="Fira Code"/>
                <a:ea typeface="Fira Code"/>
                <a:cs typeface="Fira Code"/>
                <a:sym typeface="Fira Code"/>
              </a:rPr>
              <a:t>Mampu menghasilkan representasi fitur yang lebih kaya dibandingkan metode LBP</a:t>
            </a:r>
          </a:p>
        </p:txBody>
      </p:sp>
      <p:sp>
        <p:nvSpPr>
          <p:cNvPr name="TextBox 20" id="20"/>
          <p:cNvSpPr txBox="true"/>
          <p:nvPr/>
        </p:nvSpPr>
        <p:spPr>
          <a:xfrm rot="0">
            <a:off x="9512155" y="3283265"/>
            <a:ext cx="4049968" cy="361950"/>
          </a:xfrm>
          <a:prstGeom prst="rect">
            <a:avLst/>
          </a:prstGeom>
        </p:spPr>
        <p:txBody>
          <a:bodyPr anchor="t" rtlCol="false" tIns="0" lIns="0" bIns="0" rIns="0">
            <a:spAutoFit/>
          </a:bodyPr>
          <a:lstStyle/>
          <a:p>
            <a:pPr algn="l">
              <a:lnSpc>
                <a:spcPts val="2879"/>
              </a:lnSpc>
            </a:pPr>
            <a:r>
              <a:rPr lang="en-US" sz="2400">
                <a:solidFill>
                  <a:srgbClr val="E8E8E8"/>
                </a:solidFill>
                <a:latin typeface="Fira Code"/>
                <a:ea typeface="Fira Code"/>
                <a:cs typeface="Fira Code"/>
                <a:sym typeface="Fira Code"/>
              </a:rPr>
              <a:t>CNN BASELINE</a:t>
            </a:r>
          </a:p>
        </p:txBody>
      </p:sp>
      <p:sp>
        <p:nvSpPr>
          <p:cNvPr name="TextBox 21" id="21"/>
          <p:cNvSpPr txBox="true"/>
          <p:nvPr/>
        </p:nvSpPr>
        <p:spPr>
          <a:xfrm rot="0">
            <a:off x="6340251" y="436414"/>
            <a:ext cx="1935981" cy="183421"/>
          </a:xfrm>
          <a:prstGeom prst="rect">
            <a:avLst/>
          </a:prstGeom>
        </p:spPr>
        <p:txBody>
          <a:bodyPr anchor="t" rtlCol="false" tIns="0" lIns="0" bIns="0" rIns="0">
            <a:spAutoFit/>
          </a:bodyPr>
          <a:lstStyle/>
          <a:p>
            <a:pPr algn="l">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22" id="22"/>
          <p:cNvSpPr txBox="true"/>
          <p:nvPr/>
        </p:nvSpPr>
        <p:spPr>
          <a:xfrm rot="0">
            <a:off x="1795057" y="1028700"/>
            <a:ext cx="4049968" cy="36195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LBP+SVM</a:t>
            </a:r>
          </a:p>
        </p:txBody>
      </p:sp>
      <p:sp>
        <p:nvSpPr>
          <p:cNvPr name="TextBox 23" id="23"/>
          <p:cNvSpPr txBox="true"/>
          <p:nvPr/>
        </p:nvSpPr>
        <p:spPr>
          <a:xfrm rot="0">
            <a:off x="3035825" y="2456020"/>
            <a:ext cx="4820655" cy="2514600"/>
          </a:xfrm>
          <a:prstGeom prst="rect">
            <a:avLst/>
          </a:prstGeom>
        </p:spPr>
        <p:txBody>
          <a:bodyPr anchor="t" rtlCol="false" tIns="0" lIns="0" bIns="0" rIns="0">
            <a:spAutoFit/>
          </a:bodyPr>
          <a:lstStyle/>
          <a:p>
            <a:pPr algn="l" marL="302261" indent="-151130" lvl="1">
              <a:lnSpc>
                <a:spcPts val="1680"/>
              </a:lnSpc>
              <a:buFont typeface="Arial"/>
              <a:buChar char="•"/>
            </a:pPr>
            <a:r>
              <a:rPr lang="en-US" sz="1400">
                <a:solidFill>
                  <a:srgbClr val="2B2B2B"/>
                </a:solidFill>
                <a:latin typeface="Fira Code"/>
                <a:ea typeface="Fira Code"/>
                <a:cs typeface="Fira Code"/>
                <a:sym typeface="Fira Code"/>
              </a:rPr>
              <a:t>Mampu mengenali pola tekstur dasar pada citra, namun kurang optimal dalam menangkap informasi semantik yang lebih kompleks.</a:t>
            </a:r>
          </a:p>
          <a:p>
            <a:pPr algn="l" marL="302261" indent="-151130" lvl="1">
              <a:lnSpc>
                <a:spcPts val="1680"/>
              </a:lnSpc>
              <a:buFont typeface="Arial"/>
              <a:buChar char="•"/>
            </a:pPr>
            <a:r>
              <a:rPr lang="en-US" sz="1400">
                <a:solidFill>
                  <a:srgbClr val="2B2B2B"/>
                </a:solidFill>
                <a:latin typeface="Fira Code"/>
                <a:ea typeface="Fira Code"/>
                <a:cs typeface="Fira Code"/>
                <a:sym typeface="Fira Code"/>
              </a:rPr>
              <a:t>Mengalami kesulitan dalam membedakan kelas yang memiliki karakteristik visual serupa, terutama Non Demented dan Very Mild Demented.</a:t>
            </a:r>
          </a:p>
          <a:p>
            <a:pPr algn="l" marL="302261" indent="-151130" lvl="1">
              <a:lnSpc>
                <a:spcPts val="1680"/>
              </a:lnSpc>
              <a:buFont typeface="Arial"/>
              <a:buChar char="•"/>
            </a:pPr>
            <a:r>
              <a:rPr lang="en-US" sz="1400">
                <a:solidFill>
                  <a:srgbClr val="2B2B2B"/>
                </a:solidFill>
                <a:latin typeface="Fira Code"/>
                <a:ea typeface="Fira Code"/>
                <a:cs typeface="Fira Code"/>
                <a:sym typeface="Fira Code"/>
              </a:rPr>
              <a:t>Pendekatan ini menunjukkan bahwa fitur handcrafted masih memiliki keterbatasan dibandingkan metode deep learning modern.</a:t>
            </a:r>
          </a:p>
          <a:p>
            <a:pPr algn="l">
              <a:lnSpc>
                <a:spcPts val="1680"/>
              </a:lnSpc>
            </a:pPr>
          </a:p>
        </p:txBody>
      </p:sp>
      <p:sp>
        <p:nvSpPr>
          <p:cNvPr name="TextBox 24" id="24"/>
          <p:cNvSpPr txBox="true"/>
          <p:nvPr/>
        </p:nvSpPr>
        <p:spPr>
          <a:xfrm rot="0">
            <a:off x="1795057" y="1608295"/>
            <a:ext cx="4049968" cy="619125"/>
          </a:xfrm>
          <a:prstGeom prst="rect">
            <a:avLst/>
          </a:prstGeom>
        </p:spPr>
        <p:txBody>
          <a:bodyPr anchor="t" rtlCol="false" tIns="0" lIns="0" bIns="0" rIns="0">
            <a:spAutoFit/>
          </a:bodyPr>
          <a:lstStyle/>
          <a:p>
            <a:pPr algn="l">
              <a:lnSpc>
                <a:spcPts val="2400"/>
              </a:lnSpc>
            </a:pPr>
            <a:r>
              <a:rPr lang="en-US" sz="2000">
                <a:solidFill>
                  <a:srgbClr val="2B2B2B"/>
                </a:solidFill>
                <a:latin typeface="Fira Code"/>
                <a:ea typeface="Fira Code"/>
                <a:cs typeface="Fira Code"/>
                <a:sym typeface="Fira Code"/>
              </a:rPr>
              <a:t>Accuracy : 43.25% </a:t>
            </a:r>
          </a:p>
          <a:p>
            <a:pPr algn="l">
              <a:lnSpc>
                <a:spcPts val="2400"/>
              </a:lnSpc>
            </a:pPr>
            <a:r>
              <a:rPr lang="en-US" sz="2000">
                <a:solidFill>
                  <a:srgbClr val="2B2B2B"/>
                </a:solidFill>
                <a:latin typeface="Fira Code"/>
                <a:ea typeface="Fira Code"/>
                <a:cs typeface="Fira Code"/>
                <a:sym typeface="Fira Code"/>
              </a:rPr>
              <a:t>F1-Score : 0.4198</a:t>
            </a:r>
          </a:p>
        </p:txBody>
      </p:sp>
      <p:sp>
        <p:nvSpPr>
          <p:cNvPr name="TextBox 25" id="25"/>
          <p:cNvSpPr txBox="true"/>
          <p:nvPr/>
        </p:nvSpPr>
        <p:spPr>
          <a:xfrm rot="0">
            <a:off x="9512155" y="3761400"/>
            <a:ext cx="4049968" cy="619125"/>
          </a:xfrm>
          <a:prstGeom prst="rect">
            <a:avLst/>
          </a:prstGeom>
        </p:spPr>
        <p:txBody>
          <a:bodyPr anchor="t" rtlCol="false" tIns="0" lIns="0" bIns="0" rIns="0">
            <a:spAutoFit/>
          </a:bodyPr>
          <a:lstStyle/>
          <a:p>
            <a:pPr algn="l">
              <a:lnSpc>
                <a:spcPts val="2400"/>
              </a:lnSpc>
            </a:pPr>
            <a:r>
              <a:rPr lang="en-US" sz="2000">
                <a:solidFill>
                  <a:srgbClr val="E8E8E8"/>
                </a:solidFill>
                <a:latin typeface="Fira Code"/>
                <a:ea typeface="Fira Code"/>
                <a:cs typeface="Fira Code"/>
                <a:sym typeface="Fira Code"/>
              </a:rPr>
              <a:t>Accuracy : 47.80% </a:t>
            </a:r>
          </a:p>
          <a:p>
            <a:pPr algn="l">
              <a:lnSpc>
                <a:spcPts val="2400"/>
              </a:lnSpc>
            </a:pPr>
            <a:r>
              <a:rPr lang="en-US" sz="2000">
                <a:solidFill>
                  <a:srgbClr val="E8E8E8"/>
                </a:solidFill>
                <a:latin typeface="Fira Code"/>
                <a:ea typeface="Fira Code"/>
                <a:cs typeface="Fira Code"/>
                <a:sym typeface="Fira Code"/>
              </a:rPr>
              <a:t>F1-Score : 0.4593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613604" y="1901925"/>
            <a:ext cx="13226250" cy="7834241"/>
            <a:chOff x="0" y="0"/>
            <a:chExt cx="3483457" cy="2063339"/>
          </a:xfrm>
        </p:grpSpPr>
        <p:sp>
          <p:nvSpPr>
            <p:cNvPr name="Freeform 3" id="3"/>
            <p:cNvSpPr/>
            <p:nvPr/>
          </p:nvSpPr>
          <p:spPr>
            <a:xfrm flipH="false" flipV="false" rot="0">
              <a:off x="0" y="0"/>
              <a:ext cx="3483457" cy="2063339"/>
            </a:xfrm>
            <a:custGeom>
              <a:avLst/>
              <a:gdLst/>
              <a:ahLst/>
              <a:cxnLst/>
              <a:rect r="r" b="b" t="t" l="l"/>
              <a:pathLst>
                <a:path h="2063339" w="3483457">
                  <a:moveTo>
                    <a:pt x="0" y="0"/>
                  </a:moveTo>
                  <a:lnTo>
                    <a:pt x="3483457" y="0"/>
                  </a:lnTo>
                  <a:lnTo>
                    <a:pt x="3483457" y="2063339"/>
                  </a:lnTo>
                  <a:lnTo>
                    <a:pt x="0" y="2063339"/>
                  </a:lnTo>
                  <a:close/>
                </a:path>
              </a:pathLst>
            </a:custGeom>
            <a:solidFill>
              <a:srgbClr val="E8E8E8"/>
            </a:solidFill>
            <a:ln w="9525" cap="sq">
              <a:solidFill>
                <a:srgbClr val="000000"/>
              </a:solidFill>
              <a:prstDash val="solid"/>
              <a:miter/>
            </a:ln>
          </p:spPr>
        </p:sp>
        <p:sp>
          <p:nvSpPr>
            <p:cNvPr name="TextBox 4" id="4"/>
            <p:cNvSpPr txBox="true"/>
            <p:nvPr/>
          </p:nvSpPr>
          <p:spPr>
            <a:xfrm>
              <a:off x="0" y="28575"/>
              <a:ext cx="3483457" cy="2034764"/>
            </a:xfrm>
            <a:prstGeom prst="rect">
              <a:avLst/>
            </a:prstGeom>
          </p:spPr>
          <p:txBody>
            <a:bodyPr anchor="ctr" rtlCol="false" tIns="50800" lIns="50800" bIns="50800" rIns="50800"/>
            <a:lstStyle/>
            <a:p>
              <a:pPr algn="ctr">
                <a:lnSpc>
                  <a:spcPts val="1800"/>
                </a:lnSpc>
              </a:pPr>
            </a:p>
          </p:txBody>
        </p:sp>
      </p:grpSp>
      <p:grpSp>
        <p:nvGrpSpPr>
          <p:cNvPr name="Group 5" id="5"/>
          <p:cNvGrpSpPr/>
          <p:nvPr/>
        </p:nvGrpSpPr>
        <p:grpSpPr>
          <a:xfrm rot="0">
            <a:off x="14413517" y="0"/>
            <a:ext cx="3874483" cy="10287000"/>
            <a:chOff x="0" y="0"/>
            <a:chExt cx="1020440" cy="2709333"/>
          </a:xfrm>
        </p:grpSpPr>
        <p:sp>
          <p:nvSpPr>
            <p:cNvPr name="Freeform 6" id="6"/>
            <p:cNvSpPr/>
            <p:nvPr/>
          </p:nvSpPr>
          <p:spPr>
            <a:xfrm flipH="false" flipV="false" rot="0">
              <a:off x="0" y="0"/>
              <a:ext cx="1020440" cy="2709333"/>
            </a:xfrm>
            <a:custGeom>
              <a:avLst/>
              <a:gdLst/>
              <a:ahLst/>
              <a:cxnLst/>
              <a:rect r="r" b="b" t="t" l="l"/>
              <a:pathLst>
                <a:path h="2709333" w="1020440">
                  <a:moveTo>
                    <a:pt x="0" y="0"/>
                  </a:moveTo>
                  <a:lnTo>
                    <a:pt x="1020440" y="0"/>
                  </a:lnTo>
                  <a:lnTo>
                    <a:pt x="1020440" y="2709333"/>
                  </a:lnTo>
                  <a:lnTo>
                    <a:pt x="0" y="2709333"/>
                  </a:lnTo>
                  <a:close/>
                </a:path>
              </a:pathLst>
            </a:custGeom>
            <a:solidFill>
              <a:srgbClr val="2B2B2B"/>
            </a:solidFill>
          </p:spPr>
        </p:sp>
        <p:sp>
          <p:nvSpPr>
            <p:cNvPr name="TextBox 7" id="7"/>
            <p:cNvSpPr txBox="true"/>
            <p:nvPr/>
          </p:nvSpPr>
          <p:spPr>
            <a:xfrm>
              <a:off x="0" y="28575"/>
              <a:ext cx="1020440" cy="2680758"/>
            </a:xfrm>
            <a:prstGeom prst="rect">
              <a:avLst/>
            </a:prstGeom>
          </p:spPr>
          <p:txBody>
            <a:bodyPr anchor="ctr" rtlCol="false" tIns="50800" lIns="50800" bIns="50800" rIns="50800"/>
            <a:lstStyle/>
            <a:p>
              <a:pPr algn="ctr">
                <a:lnSpc>
                  <a:spcPts val="1800"/>
                </a:lnSpc>
              </a:pPr>
            </a:p>
          </p:txBody>
        </p:sp>
      </p:grpSp>
      <p:sp>
        <p:nvSpPr>
          <p:cNvPr name="Freeform 8" id="8"/>
          <p:cNvSpPr/>
          <p:nvPr/>
        </p:nvSpPr>
        <p:spPr>
          <a:xfrm flipH="false" flipV="false" rot="0">
            <a:off x="14413517" y="6112666"/>
            <a:ext cx="5691567" cy="6263072"/>
          </a:xfrm>
          <a:custGeom>
            <a:avLst/>
            <a:gdLst/>
            <a:ahLst/>
            <a:cxnLst/>
            <a:rect r="r" b="b" t="t" l="l"/>
            <a:pathLst>
              <a:path h="6263072" w="5691567">
                <a:moveTo>
                  <a:pt x="0" y="0"/>
                </a:moveTo>
                <a:lnTo>
                  <a:pt x="5691566" y="0"/>
                </a:lnTo>
                <a:lnTo>
                  <a:pt x="5691566" y="6263072"/>
                </a:lnTo>
                <a:lnTo>
                  <a:pt x="0" y="6263072"/>
                </a:lnTo>
                <a:lnTo>
                  <a:pt x="0" y="0"/>
                </a:lnTo>
                <a:close/>
              </a:path>
            </a:pathLst>
          </a:custGeom>
          <a:blipFill>
            <a:blip r:embed="rId2"/>
            <a:stretch>
              <a:fillRect l="0" t="0" r="0" b="0"/>
            </a:stretch>
          </a:blipFill>
        </p:spPr>
      </p:sp>
      <p:sp>
        <p:nvSpPr>
          <p:cNvPr name="Freeform 9" id="9"/>
          <p:cNvSpPr/>
          <p:nvPr/>
        </p:nvSpPr>
        <p:spPr>
          <a:xfrm flipH="false" flipV="true" rot="0">
            <a:off x="1028700" y="2346851"/>
            <a:ext cx="252007" cy="195649"/>
          </a:xfrm>
          <a:custGeom>
            <a:avLst/>
            <a:gdLst/>
            <a:ahLst/>
            <a:cxnLst/>
            <a:rect r="r" b="b" t="t" l="l"/>
            <a:pathLst>
              <a:path h="195649" w="252007">
                <a:moveTo>
                  <a:pt x="0" y="195650"/>
                </a:moveTo>
                <a:lnTo>
                  <a:pt x="252007" y="195650"/>
                </a:lnTo>
                <a:lnTo>
                  <a:pt x="252007" y="0"/>
                </a:lnTo>
                <a:lnTo>
                  <a:pt x="0" y="0"/>
                </a:lnTo>
                <a:lnTo>
                  <a:pt x="0" y="19565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28700" y="9258300"/>
            <a:ext cx="252007" cy="195649"/>
          </a:xfrm>
          <a:custGeom>
            <a:avLst/>
            <a:gdLst/>
            <a:ahLst/>
            <a:cxnLst/>
            <a:rect r="r" b="b" t="t" l="l"/>
            <a:pathLst>
              <a:path h="195649" w="252007">
                <a:moveTo>
                  <a:pt x="0" y="0"/>
                </a:moveTo>
                <a:lnTo>
                  <a:pt x="252007" y="0"/>
                </a:lnTo>
                <a:lnTo>
                  <a:pt x="252007" y="195649"/>
                </a:lnTo>
                <a:lnTo>
                  <a:pt x="0" y="195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13276525" y="8770122"/>
            <a:ext cx="252007" cy="195649"/>
          </a:xfrm>
          <a:custGeom>
            <a:avLst/>
            <a:gdLst/>
            <a:ahLst/>
            <a:cxnLst/>
            <a:rect r="r" b="b" t="t" l="l"/>
            <a:pathLst>
              <a:path h="195649" w="252007">
                <a:moveTo>
                  <a:pt x="252007" y="0"/>
                </a:moveTo>
                <a:lnTo>
                  <a:pt x="0" y="0"/>
                </a:lnTo>
                <a:lnTo>
                  <a:pt x="0" y="195649"/>
                </a:lnTo>
                <a:lnTo>
                  <a:pt x="252007" y="195649"/>
                </a:lnTo>
                <a:lnTo>
                  <a:pt x="2520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778458">
            <a:off x="11828246" y="341913"/>
            <a:ext cx="3400573" cy="3120026"/>
          </a:xfrm>
          <a:custGeom>
            <a:avLst/>
            <a:gdLst/>
            <a:ahLst/>
            <a:cxnLst/>
            <a:rect r="r" b="b" t="t" l="l"/>
            <a:pathLst>
              <a:path h="3120026" w="3400573">
                <a:moveTo>
                  <a:pt x="0" y="0"/>
                </a:moveTo>
                <a:lnTo>
                  <a:pt x="3400573" y="0"/>
                </a:lnTo>
                <a:lnTo>
                  <a:pt x="3400573" y="3120025"/>
                </a:lnTo>
                <a:lnTo>
                  <a:pt x="0" y="3120025"/>
                </a:lnTo>
                <a:lnTo>
                  <a:pt x="0" y="0"/>
                </a:lnTo>
                <a:close/>
              </a:path>
            </a:pathLst>
          </a:custGeom>
          <a:blipFill>
            <a:blip r:embed="rId5"/>
            <a:stretch>
              <a:fillRect l="0" t="0" r="0" b="0"/>
            </a:stretch>
          </a:blipFill>
        </p:spPr>
      </p:sp>
      <p:sp>
        <p:nvSpPr>
          <p:cNvPr name="Freeform 13" id="13"/>
          <p:cNvSpPr/>
          <p:nvPr/>
        </p:nvSpPr>
        <p:spPr>
          <a:xfrm flipH="false" flipV="false" rot="0">
            <a:off x="437209" y="245155"/>
            <a:ext cx="352791" cy="88198"/>
          </a:xfrm>
          <a:custGeom>
            <a:avLst/>
            <a:gdLst/>
            <a:ahLst/>
            <a:cxnLst/>
            <a:rect r="r" b="b" t="t" l="l"/>
            <a:pathLst>
              <a:path h="88198" w="352791">
                <a:moveTo>
                  <a:pt x="0" y="0"/>
                </a:moveTo>
                <a:lnTo>
                  <a:pt x="352791" y="0"/>
                </a:lnTo>
                <a:lnTo>
                  <a:pt x="352791" y="88197"/>
                </a:lnTo>
                <a:lnTo>
                  <a:pt x="0" y="88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3909820" y="7537954"/>
            <a:ext cx="3727742" cy="1146281"/>
          </a:xfrm>
          <a:custGeom>
            <a:avLst/>
            <a:gdLst/>
            <a:ahLst/>
            <a:cxnLst/>
            <a:rect r="r" b="b" t="t" l="l"/>
            <a:pathLst>
              <a:path h="1146281" w="3727742">
                <a:moveTo>
                  <a:pt x="0" y="0"/>
                </a:moveTo>
                <a:lnTo>
                  <a:pt x="3727742" y="0"/>
                </a:lnTo>
                <a:lnTo>
                  <a:pt x="3727742" y="1146281"/>
                </a:lnTo>
                <a:lnTo>
                  <a:pt x="0" y="1146281"/>
                </a:lnTo>
                <a:lnTo>
                  <a:pt x="0" y="0"/>
                </a:lnTo>
                <a:close/>
              </a:path>
            </a:pathLst>
          </a:custGeom>
          <a:blipFill>
            <a:blip r:embed="rId8"/>
            <a:stretch>
              <a:fillRect l="0" t="0" r="0" b="0"/>
            </a:stretch>
          </a:blipFill>
        </p:spPr>
      </p:sp>
      <p:sp>
        <p:nvSpPr>
          <p:cNvPr name="Freeform 15" id="15"/>
          <p:cNvSpPr/>
          <p:nvPr/>
        </p:nvSpPr>
        <p:spPr>
          <a:xfrm flipH="false" flipV="false" rot="0">
            <a:off x="1154704" y="7299526"/>
            <a:ext cx="2630354" cy="1958774"/>
          </a:xfrm>
          <a:custGeom>
            <a:avLst/>
            <a:gdLst/>
            <a:ahLst/>
            <a:cxnLst/>
            <a:rect r="r" b="b" t="t" l="l"/>
            <a:pathLst>
              <a:path h="1958774" w="2630354">
                <a:moveTo>
                  <a:pt x="0" y="0"/>
                </a:moveTo>
                <a:lnTo>
                  <a:pt x="2630354" y="0"/>
                </a:lnTo>
                <a:lnTo>
                  <a:pt x="2630354" y="1958774"/>
                </a:lnTo>
                <a:lnTo>
                  <a:pt x="0" y="1958774"/>
                </a:lnTo>
                <a:lnTo>
                  <a:pt x="0" y="0"/>
                </a:lnTo>
                <a:close/>
              </a:path>
            </a:pathLst>
          </a:custGeom>
          <a:blipFill>
            <a:blip r:embed="rId9"/>
            <a:stretch>
              <a:fillRect l="0" t="0" r="0" b="0"/>
            </a:stretch>
          </a:blipFill>
        </p:spPr>
      </p:sp>
      <p:sp>
        <p:nvSpPr>
          <p:cNvPr name="Freeform 16" id="16"/>
          <p:cNvSpPr/>
          <p:nvPr/>
        </p:nvSpPr>
        <p:spPr>
          <a:xfrm flipH="false" flipV="false" rot="0">
            <a:off x="7792003" y="5957619"/>
            <a:ext cx="3729404" cy="1580335"/>
          </a:xfrm>
          <a:custGeom>
            <a:avLst/>
            <a:gdLst/>
            <a:ahLst/>
            <a:cxnLst/>
            <a:rect r="r" b="b" t="t" l="l"/>
            <a:pathLst>
              <a:path h="1580335" w="3729404">
                <a:moveTo>
                  <a:pt x="0" y="0"/>
                </a:moveTo>
                <a:lnTo>
                  <a:pt x="3729405" y="0"/>
                </a:lnTo>
                <a:lnTo>
                  <a:pt x="3729405" y="1580335"/>
                </a:lnTo>
                <a:lnTo>
                  <a:pt x="0" y="1580335"/>
                </a:lnTo>
                <a:lnTo>
                  <a:pt x="0" y="0"/>
                </a:lnTo>
                <a:close/>
              </a:path>
            </a:pathLst>
          </a:custGeom>
          <a:blipFill>
            <a:blip r:embed="rId10"/>
            <a:stretch>
              <a:fillRect l="0" t="0" r="0" b="0"/>
            </a:stretch>
          </a:blipFill>
        </p:spPr>
      </p:sp>
      <p:sp>
        <p:nvSpPr>
          <p:cNvPr name="Freeform 17" id="17"/>
          <p:cNvSpPr/>
          <p:nvPr/>
        </p:nvSpPr>
        <p:spPr>
          <a:xfrm flipH="false" flipV="false" rot="0">
            <a:off x="7792003" y="7652254"/>
            <a:ext cx="2626986" cy="1884660"/>
          </a:xfrm>
          <a:custGeom>
            <a:avLst/>
            <a:gdLst/>
            <a:ahLst/>
            <a:cxnLst/>
            <a:rect r="r" b="b" t="t" l="l"/>
            <a:pathLst>
              <a:path h="1884660" w="2626986">
                <a:moveTo>
                  <a:pt x="0" y="0"/>
                </a:moveTo>
                <a:lnTo>
                  <a:pt x="2626986" y="0"/>
                </a:lnTo>
                <a:lnTo>
                  <a:pt x="2626986" y="1884661"/>
                </a:lnTo>
                <a:lnTo>
                  <a:pt x="0" y="1884661"/>
                </a:lnTo>
                <a:lnTo>
                  <a:pt x="0" y="0"/>
                </a:lnTo>
                <a:close/>
              </a:path>
            </a:pathLst>
          </a:custGeom>
          <a:blipFill>
            <a:blip r:embed="rId11"/>
            <a:stretch>
              <a:fillRect l="0" t="0" r="0" b="0"/>
            </a:stretch>
          </a:blipFill>
        </p:spPr>
      </p:sp>
      <p:sp>
        <p:nvSpPr>
          <p:cNvPr name="Freeform 18" id="18"/>
          <p:cNvSpPr/>
          <p:nvPr/>
        </p:nvSpPr>
        <p:spPr>
          <a:xfrm flipH="false" flipV="false" rot="0">
            <a:off x="10571389" y="7938955"/>
            <a:ext cx="4244704" cy="1305247"/>
          </a:xfrm>
          <a:custGeom>
            <a:avLst/>
            <a:gdLst/>
            <a:ahLst/>
            <a:cxnLst/>
            <a:rect r="r" b="b" t="t" l="l"/>
            <a:pathLst>
              <a:path h="1305247" w="4244704">
                <a:moveTo>
                  <a:pt x="0" y="0"/>
                </a:moveTo>
                <a:lnTo>
                  <a:pt x="4244704" y="0"/>
                </a:lnTo>
                <a:lnTo>
                  <a:pt x="4244704" y="1305247"/>
                </a:lnTo>
                <a:lnTo>
                  <a:pt x="0" y="1305247"/>
                </a:lnTo>
                <a:lnTo>
                  <a:pt x="0" y="0"/>
                </a:lnTo>
                <a:close/>
              </a:path>
            </a:pathLst>
          </a:custGeom>
          <a:blipFill>
            <a:blip r:embed="rId12"/>
            <a:stretch>
              <a:fillRect l="0" t="0" r="0" b="0"/>
            </a:stretch>
          </a:blipFill>
        </p:spPr>
      </p:sp>
      <p:sp>
        <p:nvSpPr>
          <p:cNvPr name="TextBox 19" id="19"/>
          <p:cNvSpPr txBox="true"/>
          <p:nvPr/>
        </p:nvSpPr>
        <p:spPr>
          <a:xfrm rot="0">
            <a:off x="3787906" y="771502"/>
            <a:ext cx="6335441" cy="781052"/>
          </a:xfrm>
          <a:prstGeom prst="rect">
            <a:avLst/>
          </a:prstGeom>
        </p:spPr>
        <p:txBody>
          <a:bodyPr anchor="t" rtlCol="false" tIns="0" lIns="0" bIns="0" rIns="0">
            <a:spAutoFit/>
          </a:bodyPr>
          <a:lstStyle/>
          <a:p>
            <a:pPr algn="ctr">
              <a:lnSpc>
                <a:spcPts val="4800"/>
              </a:lnSpc>
            </a:pPr>
            <a:r>
              <a:rPr lang="en-US" sz="8000" spc="-160">
                <a:solidFill>
                  <a:srgbClr val="2B2B2B"/>
                </a:solidFill>
                <a:latin typeface="RQND Pro Condensed"/>
                <a:ea typeface="RQND Pro Condensed"/>
                <a:cs typeface="RQND Pro Condensed"/>
                <a:sym typeface="RQND Pro Condensed"/>
              </a:rPr>
              <a:t>EVALUASI MODEL</a:t>
            </a:r>
          </a:p>
        </p:txBody>
      </p:sp>
      <p:sp>
        <p:nvSpPr>
          <p:cNvPr name="TextBox 20" id="20"/>
          <p:cNvSpPr txBox="true"/>
          <p:nvPr/>
        </p:nvSpPr>
        <p:spPr>
          <a:xfrm rot="0">
            <a:off x="1280707" y="4413451"/>
            <a:ext cx="6044794" cy="2724150"/>
          </a:xfrm>
          <a:prstGeom prst="rect">
            <a:avLst/>
          </a:prstGeom>
        </p:spPr>
        <p:txBody>
          <a:bodyPr anchor="t" rtlCol="false" tIns="0" lIns="0" bIns="0" rIns="0">
            <a:spAutoFit/>
          </a:bodyPr>
          <a:lstStyle/>
          <a:p>
            <a:pPr algn="l" marL="302262" indent="-151131" lvl="1">
              <a:lnSpc>
                <a:spcPts val="1680"/>
              </a:lnSpc>
              <a:buFont typeface="Arial"/>
              <a:buChar char="•"/>
            </a:pPr>
            <a:r>
              <a:rPr lang="en-US" sz="1400">
                <a:solidFill>
                  <a:srgbClr val="2B2B2B"/>
                </a:solidFill>
                <a:latin typeface="Fira Code"/>
                <a:ea typeface="Fira Code"/>
                <a:cs typeface="Fira Code"/>
                <a:sym typeface="Fira Code"/>
              </a:rPr>
              <a:t>Menghasilkan akurasi sebesar 71,39% dan F1-Score sebesar 70,70% pada data pengujian.</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Performa masih berada di bawah CNN Baseline, terutama pada kelas Very Mild Demented yang memiliki tingkat kesalahan klasifikasi cukup tinggi.</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Perbedaan karakteristik antara citra MRI grayscale dan citra natural pada ImageNet menjadi salah satu faktor yang memengaruhi performa model.</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Hasil ini menunjukkan bahwa transfer learning tidak selalu memberikan peningkatan performa apabila domain sumber dan domain target memiliki karakteristik yang sangat berbeda.</a:t>
            </a:r>
          </a:p>
          <a:p>
            <a:pPr algn="l">
              <a:lnSpc>
                <a:spcPts val="1680"/>
              </a:lnSpc>
            </a:pPr>
          </a:p>
        </p:txBody>
      </p:sp>
      <p:sp>
        <p:nvSpPr>
          <p:cNvPr name="TextBox 21" id="21"/>
          <p:cNvSpPr txBox="true"/>
          <p:nvPr/>
        </p:nvSpPr>
        <p:spPr>
          <a:xfrm rot="0">
            <a:off x="830319" y="1085850"/>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22" id="22"/>
          <p:cNvSpPr txBox="true"/>
          <p:nvPr/>
        </p:nvSpPr>
        <p:spPr>
          <a:xfrm rot="0">
            <a:off x="1280707" y="2835590"/>
            <a:ext cx="4049968" cy="72390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RESNET50 TRANSFER LEARNING</a:t>
            </a:r>
          </a:p>
        </p:txBody>
      </p:sp>
      <p:sp>
        <p:nvSpPr>
          <p:cNvPr name="TextBox 23" id="23"/>
          <p:cNvSpPr txBox="true"/>
          <p:nvPr/>
        </p:nvSpPr>
        <p:spPr>
          <a:xfrm rot="0">
            <a:off x="1280707" y="3708601"/>
            <a:ext cx="4049968" cy="619125"/>
          </a:xfrm>
          <a:prstGeom prst="rect">
            <a:avLst/>
          </a:prstGeom>
        </p:spPr>
        <p:txBody>
          <a:bodyPr anchor="t" rtlCol="false" tIns="0" lIns="0" bIns="0" rIns="0">
            <a:spAutoFit/>
          </a:bodyPr>
          <a:lstStyle/>
          <a:p>
            <a:pPr algn="l">
              <a:lnSpc>
                <a:spcPts val="2400"/>
              </a:lnSpc>
            </a:pPr>
            <a:r>
              <a:rPr lang="en-US" sz="2000">
                <a:solidFill>
                  <a:srgbClr val="2B2B2B"/>
                </a:solidFill>
                <a:latin typeface="Fira Code"/>
                <a:ea typeface="Fira Code"/>
                <a:cs typeface="Fira Code"/>
                <a:sym typeface="Fira Code"/>
              </a:rPr>
              <a:t>Accuracy : 61.10% </a:t>
            </a:r>
          </a:p>
          <a:p>
            <a:pPr algn="l">
              <a:lnSpc>
                <a:spcPts val="2400"/>
              </a:lnSpc>
            </a:pPr>
            <a:r>
              <a:rPr lang="en-US" sz="2000">
                <a:solidFill>
                  <a:srgbClr val="2B2B2B"/>
                </a:solidFill>
                <a:latin typeface="Fira Code"/>
                <a:ea typeface="Fira Code"/>
                <a:cs typeface="Fira Code"/>
                <a:sym typeface="Fira Code"/>
              </a:rPr>
              <a:t>F1-Score : 0.5938</a:t>
            </a:r>
          </a:p>
        </p:txBody>
      </p:sp>
      <p:sp>
        <p:nvSpPr>
          <p:cNvPr name="TextBox 24" id="24"/>
          <p:cNvSpPr txBox="true"/>
          <p:nvPr/>
        </p:nvSpPr>
        <p:spPr>
          <a:xfrm rot="0">
            <a:off x="7471440" y="2263701"/>
            <a:ext cx="4049968" cy="361950"/>
          </a:xfrm>
          <a:prstGeom prst="rect">
            <a:avLst/>
          </a:prstGeom>
        </p:spPr>
        <p:txBody>
          <a:bodyPr anchor="t" rtlCol="false" tIns="0" lIns="0" bIns="0" rIns="0">
            <a:spAutoFit/>
          </a:bodyPr>
          <a:lstStyle/>
          <a:p>
            <a:pPr algn="l">
              <a:lnSpc>
                <a:spcPts val="2879"/>
              </a:lnSpc>
            </a:pPr>
            <a:r>
              <a:rPr lang="en-US" sz="2400">
                <a:solidFill>
                  <a:srgbClr val="2B2B2B"/>
                </a:solidFill>
                <a:latin typeface="Fira Code"/>
                <a:ea typeface="Fira Code"/>
                <a:cs typeface="Fira Code"/>
                <a:sym typeface="Fira Code"/>
              </a:rPr>
              <a:t>HYBRID CNN+GABOR+SVM</a:t>
            </a:r>
          </a:p>
        </p:txBody>
      </p:sp>
      <p:sp>
        <p:nvSpPr>
          <p:cNvPr name="TextBox 25" id="25"/>
          <p:cNvSpPr txBox="true"/>
          <p:nvPr/>
        </p:nvSpPr>
        <p:spPr>
          <a:xfrm rot="0">
            <a:off x="7471440" y="2826065"/>
            <a:ext cx="4049968" cy="619125"/>
          </a:xfrm>
          <a:prstGeom prst="rect">
            <a:avLst/>
          </a:prstGeom>
        </p:spPr>
        <p:txBody>
          <a:bodyPr anchor="t" rtlCol="false" tIns="0" lIns="0" bIns="0" rIns="0">
            <a:spAutoFit/>
          </a:bodyPr>
          <a:lstStyle/>
          <a:p>
            <a:pPr algn="l">
              <a:lnSpc>
                <a:spcPts val="2400"/>
              </a:lnSpc>
            </a:pPr>
            <a:r>
              <a:rPr lang="en-US" sz="2000">
                <a:solidFill>
                  <a:srgbClr val="2B2B2B"/>
                </a:solidFill>
                <a:latin typeface="Fira Code"/>
                <a:ea typeface="Fira Code"/>
                <a:cs typeface="Fira Code"/>
                <a:sym typeface="Fira Code"/>
              </a:rPr>
              <a:t>Accuracy : 70.80% </a:t>
            </a:r>
          </a:p>
          <a:p>
            <a:pPr algn="l">
              <a:lnSpc>
                <a:spcPts val="2400"/>
              </a:lnSpc>
            </a:pPr>
            <a:r>
              <a:rPr lang="en-US" sz="2000">
                <a:solidFill>
                  <a:srgbClr val="2B2B2B"/>
                </a:solidFill>
                <a:latin typeface="Fira Code"/>
                <a:ea typeface="Fira Code"/>
                <a:cs typeface="Fira Code"/>
                <a:sym typeface="Fira Code"/>
              </a:rPr>
              <a:t>F1-Score : 0.7005 </a:t>
            </a:r>
          </a:p>
        </p:txBody>
      </p:sp>
      <p:sp>
        <p:nvSpPr>
          <p:cNvPr name="TextBox 26" id="26"/>
          <p:cNvSpPr txBox="true"/>
          <p:nvPr/>
        </p:nvSpPr>
        <p:spPr>
          <a:xfrm rot="0">
            <a:off x="7471440" y="3559490"/>
            <a:ext cx="6044794" cy="2305050"/>
          </a:xfrm>
          <a:prstGeom prst="rect">
            <a:avLst/>
          </a:prstGeom>
        </p:spPr>
        <p:txBody>
          <a:bodyPr anchor="t" rtlCol="false" tIns="0" lIns="0" bIns="0" rIns="0">
            <a:spAutoFit/>
          </a:bodyPr>
          <a:lstStyle/>
          <a:p>
            <a:pPr algn="l" marL="302262" indent="-151131" lvl="1">
              <a:lnSpc>
                <a:spcPts val="1680"/>
              </a:lnSpc>
              <a:buFont typeface="Arial"/>
              <a:buChar char="•"/>
            </a:pPr>
            <a:r>
              <a:rPr lang="en-US" sz="1400">
                <a:solidFill>
                  <a:srgbClr val="2B2B2B"/>
                </a:solidFill>
                <a:latin typeface="Fira Code"/>
                <a:ea typeface="Fira Code"/>
                <a:cs typeface="Fira Code"/>
                <a:sym typeface="Fira Code"/>
              </a:rPr>
              <a:t>Model hybrid menggabungkan fitur semantik dari CNN dengan fitur tekstur dari Gabor dan HOG.</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Kombinasi fitur menghasilkan representasi citra yang lebih beragam dibandingkan penggunaan satu metode saja.</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Meskipun demikian, performa yang diperoleh masih belum mampu melampaui CNN Baseline.</a:t>
            </a:r>
          </a:p>
          <a:p>
            <a:pPr algn="l" marL="302262" indent="-151131" lvl="1">
              <a:lnSpc>
                <a:spcPts val="1680"/>
              </a:lnSpc>
              <a:buFont typeface="Arial"/>
              <a:buChar char="•"/>
            </a:pPr>
            <a:r>
              <a:rPr lang="en-US" sz="1400">
                <a:solidFill>
                  <a:srgbClr val="2B2B2B"/>
                </a:solidFill>
                <a:latin typeface="Fira Code"/>
                <a:ea typeface="Fira Code"/>
                <a:cs typeface="Fira Code"/>
                <a:sym typeface="Fira Code"/>
              </a:rPr>
              <a:t>Hasil ini menunjukkan bahwa penambahan fitur tekstur tidak selalu memberikan peningkatan akurasi yang signifikan.</a:t>
            </a:r>
          </a:p>
          <a:p>
            <a:pPr algn="l">
              <a:lnSpc>
                <a:spcPts val="168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sp>
        <p:nvSpPr>
          <p:cNvPr name="Freeform 2" id="2"/>
          <p:cNvSpPr/>
          <p:nvPr/>
        </p:nvSpPr>
        <p:spPr>
          <a:xfrm flipH="false" flipV="true" rot="0">
            <a:off x="11183690" y="1028700"/>
            <a:ext cx="252007" cy="195649"/>
          </a:xfrm>
          <a:custGeom>
            <a:avLst/>
            <a:gdLst/>
            <a:ahLst/>
            <a:cxnLst/>
            <a:rect r="r" b="b" t="t" l="l"/>
            <a:pathLst>
              <a:path h="195649" w="252007">
                <a:moveTo>
                  <a:pt x="0" y="195649"/>
                </a:moveTo>
                <a:lnTo>
                  <a:pt x="252007" y="195649"/>
                </a:lnTo>
                <a:lnTo>
                  <a:pt x="252007" y="0"/>
                </a:lnTo>
                <a:lnTo>
                  <a:pt x="0" y="0"/>
                </a:lnTo>
                <a:lnTo>
                  <a:pt x="0" y="195649"/>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30319" y="8325315"/>
            <a:ext cx="9335814" cy="1028700"/>
            <a:chOff x="0" y="0"/>
            <a:chExt cx="2458815" cy="270933"/>
          </a:xfrm>
        </p:grpSpPr>
        <p:sp>
          <p:nvSpPr>
            <p:cNvPr name="Freeform 4" id="4"/>
            <p:cNvSpPr/>
            <p:nvPr/>
          </p:nvSpPr>
          <p:spPr>
            <a:xfrm flipH="false" flipV="false" rot="0">
              <a:off x="0" y="0"/>
              <a:ext cx="2458815" cy="270933"/>
            </a:xfrm>
            <a:custGeom>
              <a:avLst/>
              <a:gdLst/>
              <a:ahLst/>
              <a:cxnLst/>
              <a:rect r="r" b="b" t="t" l="l"/>
              <a:pathLst>
                <a:path h="270933" w="2458815">
                  <a:moveTo>
                    <a:pt x="0" y="0"/>
                  </a:moveTo>
                  <a:lnTo>
                    <a:pt x="2458815" y="0"/>
                  </a:lnTo>
                  <a:lnTo>
                    <a:pt x="2458815" y="270933"/>
                  </a:lnTo>
                  <a:lnTo>
                    <a:pt x="0" y="270933"/>
                  </a:lnTo>
                  <a:close/>
                </a:path>
              </a:pathLst>
            </a:custGeom>
            <a:solidFill>
              <a:srgbClr val="2B2B2B"/>
            </a:solidFill>
          </p:spPr>
        </p:sp>
        <p:sp>
          <p:nvSpPr>
            <p:cNvPr name="TextBox 5" id="5"/>
            <p:cNvSpPr txBox="true"/>
            <p:nvPr/>
          </p:nvSpPr>
          <p:spPr>
            <a:xfrm>
              <a:off x="0" y="28575"/>
              <a:ext cx="2458815" cy="24235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806134">
            <a:off x="-810749" y="1951403"/>
            <a:ext cx="3282135" cy="3294489"/>
          </a:xfrm>
          <a:custGeom>
            <a:avLst/>
            <a:gdLst/>
            <a:ahLst/>
            <a:cxnLst/>
            <a:rect r="r" b="b" t="t" l="l"/>
            <a:pathLst>
              <a:path h="3294489" w="3282135">
                <a:moveTo>
                  <a:pt x="0" y="0"/>
                </a:moveTo>
                <a:lnTo>
                  <a:pt x="3282135" y="0"/>
                </a:lnTo>
                <a:lnTo>
                  <a:pt x="3282135" y="3294489"/>
                </a:lnTo>
                <a:lnTo>
                  <a:pt x="0" y="3294489"/>
                </a:lnTo>
                <a:lnTo>
                  <a:pt x="0" y="0"/>
                </a:lnTo>
                <a:close/>
              </a:path>
            </a:pathLst>
          </a:custGeom>
          <a:blipFill>
            <a:blip r:embed="rId4"/>
            <a:stretch>
              <a:fillRect l="0" t="0" r="0" b="0"/>
            </a:stretch>
          </a:blipFill>
        </p:spPr>
      </p:sp>
      <p:grpSp>
        <p:nvGrpSpPr>
          <p:cNvPr name="Group 7" id="7"/>
          <p:cNvGrpSpPr/>
          <p:nvPr/>
        </p:nvGrpSpPr>
        <p:grpSpPr>
          <a:xfrm rot="0">
            <a:off x="830319" y="4638512"/>
            <a:ext cx="9335814" cy="3935955"/>
            <a:chOff x="0" y="0"/>
            <a:chExt cx="1525444" cy="643123"/>
          </a:xfrm>
        </p:grpSpPr>
        <p:sp>
          <p:nvSpPr>
            <p:cNvPr name="Freeform 8" id="8"/>
            <p:cNvSpPr/>
            <p:nvPr/>
          </p:nvSpPr>
          <p:spPr>
            <a:xfrm flipH="false" flipV="false" rot="0">
              <a:off x="0" y="0"/>
              <a:ext cx="1525444" cy="643123"/>
            </a:xfrm>
            <a:custGeom>
              <a:avLst/>
              <a:gdLst/>
              <a:ahLst/>
              <a:cxnLst/>
              <a:rect r="r" b="b" t="t" l="l"/>
              <a:pathLst>
                <a:path h="643123" w="1525444">
                  <a:moveTo>
                    <a:pt x="0" y="0"/>
                  </a:moveTo>
                  <a:lnTo>
                    <a:pt x="1525444" y="0"/>
                  </a:lnTo>
                  <a:lnTo>
                    <a:pt x="1525444" y="643123"/>
                  </a:lnTo>
                  <a:lnTo>
                    <a:pt x="0" y="643123"/>
                  </a:lnTo>
                  <a:close/>
                </a:path>
              </a:pathLst>
            </a:custGeom>
            <a:blipFill>
              <a:blip r:embed="rId5"/>
              <a:stretch>
                <a:fillRect l="-1102" t="0" r="-1102" b="0"/>
              </a:stretch>
            </a:blipFill>
          </p:spPr>
        </p:sp>
      </p:grpSp>
      <p:sp>
        <p:nvSpPr>
          <p:cNvPr name="Freeform 9" id="9"/>
          <p:cNvSpPr/>
          <p:nvPr/>
        </p:nvSpPr>
        <p:spPr>
          <a:xfrm flipH="false" flipV="false" rot="833562">
            <a:off x="14084088" y="7290027"/>
            <a:ext cx="4512167" cy="4965246"/>
          </a:xfrm>
          <a:custGeom>
            <a:avLst/>
            <a:gdLst/>
            <a:ahLst/>
            <a:cxnLst/>
            <a:rect r="r" b="b" t="t" l="l"/>
            <a:pathLst>
              <a:path h="4965246" w="4512167">
                <a:moveTo>
                  <a:pt x="0" y="0"/>
                </a:moveTo>
                <a:lnTo>
                  <a:pt x="4512167" y="0"/>
                </a:lnTo>
                <a:lnTo>
                  <a:pt x="4512167" y="4965246"/>
                </a:lnTo>
                <a:lnTo>
                  <a:pt x="0" y="4965246"/>
                </a:lnTo>
                <a:lnTo>
                  <a:pt x="0" y="0"/>
                </a:lnTo>
                <a:close/>
              </a:path>
            </a:pathLst>
          </a:custGeom>
          <a:blipFill>
            <a:blip r:embed="rId6"/>
            <a:stretch>
              <a:fillRect l="0" t="0" r="0" b="0"/>
            </a:stretch>
          </a:blipFill>
        </p:spPr>
      </p:sp>
      <p:sp>
        <p:nvSpPr>
          <p:cNvPr name="Freeform 10" id="10"/>
          <p:cNvSpPr/>
          <p:nvPr/>
        </p:nvSpPr>
        <p:spPr>
          <a:xfrm flipH="true" flipV="true" rot="0">
            <a:off x="17007293" y="1028700"/>
            <a:ext cx="252007" cy="195649"/>
          </a:xfrm>
          <a:custGeom>
            <a:avLst/>
            <a:gdLst/>
            <a:ahLst/>
            <a:cxnLst/>
            <a:rect r="r" b="b" t="t" l="l"/>
            <a:pathLst>
              <a:path h="195649" w="252007">
                <a:moveTo>
                  <a:pt x="252007" y="195649"/>
                </a:moveTo>
                <a:lnTo>
                  <a:pt x="0" y="195649"/>
                </a:lnTo>
                <a:lnTo>
                  <a:pt x="0" y="0"/>
                </a:lnTo>
                <a:lnTo>
                  <a:pt x="252007" y="0"/>
                </a:lnTo>
                <a:lnTo>
                  <a:pt x="252007" y="19564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183690" y="9062651"/>
            <a:ext cx="252007" cy="195649"/>
          </a:xfrm>
          <a:custGeom>
            <a:avLst/>
            <a:gdLst/>
            <a:ahLst/>
            <a:cxnLst/>
            <a:rect r="r" b="b" t="t" l="l"/>
            <a:pathLst>
              <a:path h="195649" w="252007">
                <a:moveTo>
                  <a:pt x="0" y="0"/>
                </a:moveTo>
                <a:lnTo>
                  <a:pt x="252007" y="0"/>
                </a:lnTo>
                <a:lnTo>
                  <a:pt x="252007" y="195649"/>
                </a:lnTo>
                <a:lnTo>
                  <a:pt x="0" y="195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2" id="12"/>
          <p:cNvSpPr/>
          <p:nvPr/>
        </p:nvSpPr>
        <p:spPr>
          <a:xfrm>
            <a:off x="3513460" y="1121762"/>
            <a:ext cx="6640565" cy="0"/>
          </a:xfrm>
          <a:prstGeom prst="line">
            <a:avLst/>
          </a:prstGeom>
          <a:ln cap="flat" w="9525">
            <a:solidFill>
              <a:srgbClr val="000000"/>
            </a:solidFill>
            <a:prstDash val="solid"/>
            <a:headEnd type="none" len="sm" w="sm"/>
            <a:tailEnd type="none" len="sm" w="sm"/>
          </a:ln>
        </p:spPr>
      </p:sp>
      <p:sp>
        <p:nvSpPr>
          <p:cNvPr name="Freeform 13" id="13"/>
          <p:cNvSpPr/>
          <p:nvPr/>
        </p:nvSpPr>
        <p:spPr>
          <a:xfrm flipH="false" flipV="false" rot="0">
            <a:off x="1028700" y="3866480"/>
            <a:ext cx="352791" cy="88198"/>
          </a:xfrm>
          <a:custGeom>
            <a:avLst/>
            <a:gdLst/>
            <a:ahLst/>
            <a:cxnLst/>
            <a:rect r="r" b="b" t="t" l="l"/>
            <a:pathLst>
              <a:path h="88198" w="352791">
                <a:moveTo>
                  <a:pt x="0" y="0"/>
                </a:moveTo>
                <a:lnTo>
                  <a:pt x="352791" y="0"/>
                </a:lnTo>
                <a:lnTo>
                  <a:pt x="352791" y="88198"/>
                </a:lnTo>
                <a:lnTo>
                  <a:pt x="0" y="881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3721308" y="2010758"/>
            <a:ext cx="4969521" cy="952645"/>
          </a:xfrm>
          <a:prstGeom prst="rect">
            <a:avLst/>
          </a:prstGeom>
        </p:spPr>
        <p:txBody>
          <a:bodyPr anchor="t" rtlCol="false" tIns="0" lIns="0" bIns="0" rIns="0">
            <a:spAutoFit/>
          </a:bodyPr>
          <a:lstStyle/>
          <a:p>
            <a:pPr algn="l">
              <a:lnSpc>
                <a:spcPts val="5926"/>
              </a:lnSpc>
            </a:pPr>
            <a:r>
              <a:rPr lang="en-US" sz="9876" spc="-197">
                <a:solidFill>
                  <a:srgbClr val="2B2B2B"/>
                </a:solidFill>
                <a:latin typeface="RQND Pro Condensed"/>
                <a:ea typeface="RQND Pro Condensed"/>
                <a:cs typeface="RQND Pro Condensed"/>
                <a:sym typeface="RQND Pro Condensed"/>
              </a:rPr>
              <a:t>KESIMPULAN</a:t>
            </a:r>
          </a:p>
        </p:txBody>
      </p:sp>
      <p:sp>
        <p:nvSpPr>
          <p:cNvPr name="TextBox 15" id="15"/>
          <p:cNvSpPr txBox="true"/>
          <p:nvPr/>
        </p:nvSpPr>
        <p:spPr>
          <a:xfrm rot="0">
            <a:off x="830319" y="1085850"/>
            <a:ext cx="1935981" cy="183421"/>
          </a:xfrm>
          <a:prstGeom prst="rect">
            <a:avLst/>
          </a:prstGeom>
        </p:spPr>
        <p:txBody>
          <a:bodyPr anchor="t" rtlCol="false" tIns="0" lIns="0" bIns="0" rIns="0">
            <a:spAutoFit/>
          </a:bodyPr>
          <a:lstStyle/>
          <a:p>
            <a:pPr algn="ctr">
              <a:lnSpc>
                <a:spcPts val="1376"/>
              </a:lnSpc>
            </a:pPr>
            <a:r>
              <a:rPr lang="en-US" b="true" sz="1600" spc="-48">
                <a:solidFill>
                  <a:srgbClr val="2B2B2B"/>
                </a:solidFill>
                <a:latin typeface="Fira Code Bold"/>
                <a:ea typeface="Fira Code Bold"/>
                <a:cs typeface="Fira Code Bold"/>
                <a:sym typeface="Fira Code Bold"/>
              </a:rPr>
              <a:t>SALFORD &amp; CO.</a:t>
            </a:r>
          </a:p>
        </p:txBody>
      </p:sp>
      <p:sp>
        <p:nvSpPr>
          <p:cNvPr name="TextBox 16" id="16"/>
          <p:cNvSpPr txBox="true"/>
          <p:nvPr/>
        </p:nvSpPr>
        <p:spPr>
          <a:xfrm rot="0">
            <a:off x="11435697" y="2210855"/>
            <a:ext cx="5571595" cy="4610100"/>
          </a:xfrm>
          <a:prstGeom prst="rect">
            <a:avLst/>
          </a:prstGeom>
        </p:spPr>
        <p:txBody>
          <a:bodyPr anchor="t" rtlCol="false" tIns="0" lIns="0" bIns="0" rIns="0">
            <a:spAutoFit/>
          </a:bodyPr>
          <a:lstStyle/>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Tahapan preprocessing morfologi yang terdiri dari CLAHE, Otsu Threshold, dan Morphological Gradient berhasil meningkatkan kualitas citra MRI dengan menonjolkan struktur penting yang relevan untuk proses klasifikasi Alzheimer.</a:t>
            </a:r>
          </a:p>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Pendekatan deep learning menunjukkan performa yang lebih baik dibandingkan metode tradisional LBP+SVM, karena mampu mempelajari fitur citra secara otomatis dan lebih representatif.</a:t>
            </a:r>
          </a:p>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Model ResNet50 Transfer Learning memperoleh performa yang lebih baik dibandingkan CNN Baseline dan LBP+SVM, menunjukkan bahwa fitur pretrained masih memberikan manfaat dalam proses ekstraksi fitur MRI.</a:t>
            </a:r>
          </a:p>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Model Hybrid CNN+Gabor+HOG+SVM memberikan performa terbaik dengan akurasi 70,8% dan F1-Score 70,1%. Hasil ini menunjukkan bahwa kombinasi fitur semantik dari CNN dengan fitur tekstur Gabor dan HOG mampu menghasilkan representasi citra yang lebih komprehensif dibandingkan penggunaan satu metode secara terpisah.</a:t>
            </a:r>
          </a:p>
        </p:txBody>
      </p:sp>
      <p:sp>
        <p:nvSpPr>
          <p:cNvPr name="TextBox 17" id="17"/>
          <p:cNvSpPr txBox="true"/>
          <p:nvPr/>
        </p:nvSpPr>
        <p:spPr>
          <a:xfrm rot="0">
            <a:off x="11435697" y="1808325"/>
            <a:ext cx="2489872"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KESIMPULAN</a:t>
            </a:r>
          </a:p>
        </p:txBody>
      </p:sp>
      <p:sp>
        <p:nvSpPr>
          <p:cNvPr name="TextBox 18" id="18"/>
          <p:cNvSpPr txBox="true"/>
          <p:nvPr/>
        </p:nvSpPr>
        <p:spPr>
          <a:xfrm rot="0">
            <a:off x="11435697" y="6982880"/>
            <a:ext cx="2489872" cy="238125"/>
          </a:xfrm>
          <a:prstGeom prst="rect">
            <a:avLst/>
          </a:prstGeom>
        </p:spPr>
        <p:txBody>
          <a:bodyPr anchor="t" rtlCol="false" tIns="0" lIns="0" bIns="0" rIns="0">
            <a:spAutoFit/>
          </a:bodyPr>
          <a:lstStyle/>
          <a:p>
            <a:pPr algn="l">
              <a:lnSpc>
                <a:spcPts val="1920"/>
              </a:lnSpc>
            </a:pPr>
            <a:r>
              <a:rPr lang="en-US" sz="1600" b="true">
                <a:solidFill>
                  <a:srgbClr val="2B2B2B"/>
                </a:solidFill>
                <a:latin typeface="Fira Code Bold"/>
                <a:ea typeface="Fira Code Bold"/>
                <a:cs typeface="Fira Code Bold"/>
                <a:sym typeface="Fira Code Bold"/>
              </a:rPr>
              <a:t>SARAN</a:t>
            </a:r>
          </a:p>
        </p:txBody>
      </p:sp>
      <p:sp>
        <p:nvSpPr>
          <p:cNvPr name="TextBox 19" id="19"/>
          <p:cNvSpPr txBox="true"/>
          <p:nvPr/>
        </p:nvSpPr>
        <p:spPr>
          <a:xfrm rot="0">
            <a:off x="11435697" y="7372350"/>
            <a:ext cx="4070832" cy="1885950"/>
          </a:xfrm>
          <a:prstGeom prst="rect">
            <a:avLst/>
          </a:prstGeom>
        </p:spPr>
        <p:txBody>
          <a:bodyPr anchor="t" rtlCol="false" tIns="0" lIns="0" bIns="0" rIns="0">
            <a:spAutoFit/>
          </a:bodyPr>
          <a:lstStyle/>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Me</a:t>
            </a:r>
            <a:r>
              <a:rPr lang="en-US" sz="1400">
                <a:solidFill>
                  <a:srgbClr val="2B2B2B"/>
                </a:solidFill>
                <a:latin typeface="Fira Code"/>
                <a:ea typeface="Fira Code"/>
                <a:cs typeface="Fira Code"/>
                <a:sym typeface="Fira Code"/>
              </a:rPr>
              <a:t>lakukan optimasi parameter Gabor, HOG, dan SVM untuk memperoleh kombinasi fitur yang lebih optimal serta meningkatkan performa klasifikasi.</a:t>
            </a:r>
          </a:p>
          <a:p>
            <a:pPr algn="l" marL="302261" indent="-151130" lvl="1">
              <a:lnSpc>
                <a:spcPts val="1680"/>
              </a:lnSpc>
              <a:buAutoNum type="arabicPeriod" startAt="1"/>
            </a:pPr>
            <a:r>
              <a:rPr lang="en-US" sz="1400">
                <a:solidFill>
                  <a:srgbClr val="2B2B2B"/>
                </a:solidFill>
                <a:latin typeface="Fira Code"/>
                <a:ea typeface="Fira Code"/>
                <a:cs typeface="Fira Code"/>
                <a:sym typeface="Fira Code"/>
              </a:rPr>
              <a:t>Menambahkan teknik augmentasi data yang lebih beragam untuk meningkatkan kemampuan generalisasi model terhadap variasi citra MRI.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8E8"/>
        </a:solidFill>
      </p:bgPr>
    </p:bg>
    <p:spTree>
      <p:nvGrpSpPr>
        <p:cNvPr id="1" name=""/>
        <p:cNvGrpSpPr/>
        <p:nvPr/>
      </p:nvGrpSpPr>
      <p:grpSpPr>
        <a:xfrm>
          <a:off x="0" y="0"/>
          <a:ext cx="0" cy="0"/>
          <a:chOff x="0" y="0"/>
          <a:chExt cx="0" cy="0"/>
        </a:xfrm>
      </p:grpSpPr>
      <p:grpSp>
        <p:nvGrpSpPr>
          <p:cNvPr name="Group 2" id="2"/>
          <p:cNvGrpSpPr/>
          <p:nvPr/>
        </p:nvGrpSpPr>
        <p:grpSpPr>
          <a:xfrm rot="0">
            <a:off x="1747712" y="3406583"/>
            <a:ext cx="15511588" cy="4437916"/>
            <a:chOff x="0" y="0"/>
            <a:chExt cx="2625926" cy="751286"/>
          </a:xfrm>
        </p:grpSpPr>
        <p:sp>
          <p:nvSpPr>
            <p:cNvPr name="Freeform 3" id="3"/>
            <p:cNvSpPr/>
            <p:nvPr/>
          </p:nvSpPr>
          <p:spPr>
            <a:xfrm flipH="false" flipV="false" rot="0">
              <a:off x="0" y="0"/>
              <a:ext cx="2625926" cy="751286"/>
            </a:xfrm>
            <a:custGeom>
              <a:avLst/>
              <a:gdLst/>
              <a:ahLst/>
              <a:cxnLst/>
              <a:rect r="r" b="b" t="t" l="l"/>
              <a:pathLst>
                <a:path h="751286" w="2625926">
                  <a:moveTo>
                    <a:pt x="0" y="0"/>
                  </a:moveTo>
                  <a:lnTo>
                    <a:pt x="2625926" y="0"/>
                  </a:lnTo>
                  <a:lnTo>
                    <a:pt x="2625926" y="751286"/>
                  </a:lnTo>
                  <a:lnTo>
                    <a:pt x="0" y="751286"/>
                  </a:lnTo>
                  <a:close/>
                </a:path>
              </a:pathLst>
            </a:custGeom>
            <a:solidFill>
              <a:srgbClr val="E8E8E8"/>
            </a:solidFill>
            <a:ln w="9525" cap="sq">
              <a:solidFill>
                <a:srgbClr val="000000"/>
              </a:solidFill>
              <a:prstDash val="solid"/>
              <a:miter/>
            </a:ln>
          </p:spPr>
        </p:sp>
        <p:sp>
          <p:nvSpPr>
            <p:cNvPr name="TextBox 4" id="4"/>
            <p:cNvSpPr txBox="true"/>
            <p:nvPr/>
          </p:nvSpPr>
          <p:spPr>
            <a:xfrm>
              <a:off x="0" y="28575"/>
              <a:ext cx="2625926" cy="722711"/>
            </a:xfrm>
            <a:prstGeom prst="rect">
              <a:avLst/>
            </a:prstGeom>
          </p:spPr>
          <p:txBody>
            <a:bodyPr anchor="ctr" rtlCol="false" tIns="50800" lIns="50800" bIns="50800" rIns="50800"/>
            <a:lstStyle/>
            <a:p>
              <a:pPr algn="ctr">
                <a:lnSpc>
                  <a:spcPts val="1800"/>
                </a:lnSpc>
              </a:pPr>
            </a:p>
          </p:txBody>
        </p:sp>
      </p:grpSp>
      <p:sp>
        <p:nvSpPr>
          <p:cNvPr name="TextBox 5" id="5"/>
          <p:cNvSpPr txBox="true"/>
          <p:nvPr/>
        </p:nvSpPr>
        <p:spPr>
          <a:xfrm rot="0">
            <a:off x="1747712" y="4567001"/>
            <a:ext cx="15511588" cy="2689573"/>
          </a:xfrm>
          <a:prstGeom prst="rect">
            <a:avLst/>
          </a:prstGeom>
        </p:spPr>
        <p:txBody>
          <a:bodyPr anchor="t" rtlCol="false" tIns="0" lIns="0" bIns="0" rIns="0">
            <a:spAutoFit/>
          </a:bodyPr>
          <a:lstStyle/>
          <a:p>
            <a:pPr algn="ctr">
              <a:lnSpc>
                <a:spcPts val="16933"/>
              </a:lnSpc>
            </a:pPr>
            <a:r>
              <a:rPr lang="en-US" sz="28222" spc="-564">
                <a:solidFill>
                  <a:srgbClr val="2B2B2B"/>
                </a:solidFill>
                <a:latin typeface="RQND Pro Condensed"/>
                <a:ea typeface="RQND Pro Condensed"/>
                <a:cs typeface="RQND Pro Condensed"/>
                <a:sym typeface="RQND Pro Condensed"/>
              </a:rPr>
              <a:t>THANK YOU</a:t>
            </a:r>
          </a:p>
        </p:txBody>
      </p:sp>
      <p:sp>
        <p:nvSpPr>
          <p:cNvPr name="Freeform 6" id="6"/>
          <p:cNvSpPr/>
          <p:nvPr/>
        </p:nvSpPr>
        <p:spPr>
          <a:xfrm flipH="false" flipV="false" rot="0">
            <a:off x="16273781" y="361803"/>
            <a:ext cx="1414221" cy="1593489"/>
          </a:xfrm>
          <a:custGeom>
            <a:avLst/>
            <a:gdLst/>
            <a:ahLst/>
            <a:cxnLst/>
            <a:rect r="r" b="b" t="t" l="l"/>
            <a:pathLst>
              <a:path h="1593489" w="1414221">
                <a:moveTo>
                  <a:pt x="0" y="0"/>
                </a:moveTo>
                <a:lnTo>
                  <a:pt x="1414222" y="0"/>
                </a:lnTo>
                <a:lnTo>
                  <a:pt x="1414222" y="1593489"/>
                </a:lnTo>
                <a:lnTo>
                  <a:pt x="0" y="1593489"/>
                </a:lnTo>
                <a:lnTo>
                  <a:pt x="0" y="0"/>
                </a:lnTo>
                <a:close/>
              </a:path>
            </a:pathLst>
          </a:custGeom>
          <a:blipFill>
            <a:blip r:embed="rId2"/>
            <a:stretch>
              <a:fillRect l="0" t="0" r="0" b="0"/>
            </a:stretch>
          </a:blipFill>
        </p:spPr>
      </p:sp>
      <p:sp>
        <p:nvSpPr>
          <p:cNvPr name="Freeform 7" id="7"/>
          <p:cNvSpPr/>
          <p:nvPr/>
        </p:nvSpPr>
        <p:spPr>
          <a:xfrm flipH="true" flipV="false" rot="3387377">
            <a:off x="-965492" y="-526587"/>
            <a:ext cx="3733192" cy="4108052"/>
          </a:xfrm>
          <a:custGeom>
            <a:avLst/>
            <a:gdLst/>
            <a:ahLst/>
            <a:cxnLst/>
            <a:rect r="r" b="b" t="t" l="l"/>
            <a:pathLst>
              <a:path h="4108052" w="3733192">
                <a:moveTo>
                  <a:pt x="3733193" y="0"/>
                </a:moveTo>
                <a:lnTo>
                  <a:pt x="0" y="0"/>
                </a:lnTo>
                <a:lnTo>
                  <a:pt x="0" y="4108052"/>
                </a:lnTo>
                <a:lnTo>
                  <a:pt x="3733193" y="4108052"/>
                </a:lnTo>
                <a:lnTo>
                  <a:pt x="3733193" y="0"/>
                </a:lnTo>
                <a:close/>
              </a:path>
            </a:pathLst>
          </a:custGeom>
          <a:blipFill>
            <a:blip r:embed="rId3"/>
            <a:stretch>
              <a:fillRect l="0" t="0" r="0" b="0"/>
            </a:stretch>
          </a:blipFill>
        </p:spPr>
      </p:sp>
      <p:sp>
        <p:nvSpPr>
          <p:cNvPr name="Freeform 8" id="8"/>
          <p:cNvSpPr/>
          <p:nvPr/>
        </p:nvSpPr>
        <p:spPr>
          <a:xfrm flipH="true" flipV="false" rot="4798602">
            <a:off x="15054747" y="7722279"/>
            <a:ext cx="3348274" cy="3072041"/>
          </a:xfrm>
          <a:custGeom>
            <a:avLst/>
            <a:gdLst/>
            <a:ahLst/>
            <a:cxnLst/>
            <a:rect r="r" b="b" t="t" l="l"/>
            <a:pathLst>
              <a:path h="3072041" w="3348274">
                <a:moveTo>
                  <a:pt x="3348274" y="0"/>
                </a:moveTo>
                <a:lnTo>
                  <a:pt x="0" y="0"/>
                </a:lnTo>
                <a:lnTo>
                  <a:pt x="0" y="3072042"/>
                </a:lnTo>
                <a:lnTo>
                  <a:pt x="3348274" y="3072042"/>
                </a:lnTo>
                <a:lnTo>
                  <a:pt x="3348274" y="0"/>
                </a:lnTo>
                <a:close/>
              </a:path>
            </a:pathLst>
          </a:custGeom>
          <a:blipFill>
            <a:blip r:embed="rId4"/>
            <a:stretch>
              <a:fillRect l="0" t="0" r="0" b="0"/>
            </a:stretch>
          </a:blipFill>
        </p:spPr>
      </p:sp>
      <p:sp>
        <p:nvSpPr>
          <p:cNvPr name="TextBox 9" id="9"/>
          <p:cNvSpPr txBox="true"/>
          <p:nvPr/>
        </p:nvSpPr>
        <p:spPr>
          <a:xfrm rot="0">
            <a:off x="7997529" y="3912273"/>
            <a:ext cx="3011955" cy="288499"/>
          </a:xfrm>
          <a:prstGeom prst="rect">
            <a:avLst/>
          </a:prstGeom>
        </p:spPr>
        <p:txBody>
          <a:bodyPr anchor="t" rtlCol="false" tIns="0" lIns="0" bIns="0" rIns="0">
            <a:spAutoFit/>
          </a:bodyPr>
          <a:lstStyle/>
          <a:p>
            <a:pPr algn="ctr">
              <a:lnSpc>
                <a:spcPts val="2140"/>
              </a:lnSpc>
            </a:pPr>
            <a:r>
              <a:rPr lang="en-US" b="true" sz="2489" spc="-74">
                <a:solidFill>
                  <a:srgbClr val="2B2B2B"/>
                </a:solidFill>
                <a:latin typeface="Fira Code Bold"/>
                <a:ea typeface="Fira Code Bold"/>
                <a:cs typeface="Fira Code Bold"/>
                <a:sym typeface="Fira Code Bold"/>
              </a:rPr>
              <a:t>KELOMPOK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DAHL9mZhtyQ</dc:identifier>
  <dcterms:modified xsi:type="dcterms:W3CDTF">2011-08-01T06:04:30Z</dcterms:modified>
  <cp:revision>1</cp:revision>
  <dc:title>Black White and Grey Modern Futuristic AI Rendering Presentation</dc:title>
</cp:coreProperties>
</file>